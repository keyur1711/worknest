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87" r:id="rId3"/>
    <p:sldMasterId id="2147483700" r:id="rId4"/>
    <p:sldMasterId id="2147483713" r:id="rId5"/>
    <p:sldMasterId id="2147483739" r:id="rId6"/>
    <p:sldMasterId id="2147483752" r:id="rId7"/>
  </p:sldMasterIdLst>
  <p:notesMasterIdLst>
    <p:notesMasterId r:id="rId30"/>
  </p:notesMasterIdLst>
  <p:sldIdLst>
    <p:sldId id="256" r:id="rId8"/>
    <p:sldId id="278" r:id="rId9"/>
    <p:sldId id="257" r:id="rId10"/>
    <p:sldId id="258" r:id="rId11"/>
    <p:sldId id="272" r:id="rId12"/>
    <p:sldId id="261" r:id="rId13"/>
    <p:sldId id="281" r:id="rId14"/>
    <p:sldId id="266" r:id="rId15"/>
    <p:sldId id="282" r:id="rId16"/>
    <p:sldId id="283" r:id="rId17"/>
    <p:sldId id="262" r:id="rId18"/>
    <p:sldId id="259" r:id="rId19"/>
    <p:sldId id="260" r:id="rId20"/>
    <p:sldId id="263" r:id="rId21"/>
    <p:sldId id="264" r:id="rId22"/>
    <p:sldId id="265" r:id="rId23"/>
    <p:sldId id="267" r:id="rId24"/>
    <p:sldId id="268" r:id="rId25"/>
    <p:sldId id="269" r:id="rId26"/>
    <p:sldId id="270" r:id="rId27"/>
    <p:sldId id="285" r:id="rId28"/>
    <p:sldId id="271" r:id="rId29"/>
  </p:sldIdLst>
  <p:sldSz cx="19010313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117" autoAdjust="0"/>
  </p:normalViewPr>
  <p:slideViewPr>
    <p:cSldViewPr snapToGrid="0">
      <p:cViewPr varScale="1">
        <p:scale>
          <a:sx n="47" d="100"/>
          <a:sy n="47" d="100"/>
        </p:scale>
        <p:origin x="2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4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4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45EC39A8-F917-4AFC-8D20-8A61A36F1DF3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9515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1336675"/>
            <a:ext cx="6413500" cy="360680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755640" y="5146560"/>
            <a:ext cx="6044400" cy="42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4"/>
          </p:nvPr>
        </p:nvSpPr>
        <p:spPr>
          <a:xfrm>
            <a:off x="4280040" y="10156680"/>
            <a:ext cx="3274200" cy="53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cs-CZ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56082D-F65F-48F9-BB6D-AF0E410C13F0}" type="slidenum">
              <a:rPr lang="cs-CZ" sz="1200" b="0" strike="noStrike" spc="-1">
                <a:latin typeface="Times New Roman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6341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References before thankyou, </a:t>
            </a:r>
            <a:r>
              <a:rPr lang="en-IN" dirty="0" err="1"/>
              <a:t>tbular</a:t>
            </a:r>
            <a:r>
              <a:rPr lang="en-IN" dirty="0"/>
              <a:t> format, completion status-&gt;before </a:t>
            </a:r>
            <a:r>
              <a:rPr lang="en-IN" dirty="0" err="1"/>
              <a:t>ereferences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907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546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Move challenge to top,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2955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498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Ruler- margin, </a:t>
            </a:r>
            <a:r>
              <a:rPr lang="en-IN" dirty="0" err="1"/>
              <a:t>shount</a:t>
            </a:r>
            <a:r>
              <a:rPr lang="en-IN" dirty="0"/>
              <a:t> cross pes logo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250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722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presentatation</a:t>
            </a:r>
            <a:r>
              <a:rPr lang="en-US" dirty="0"/>
              <a:t>, both </a:t>
            </a:r>
            <a:r>
              <a:rPr lang="en-US" dirty="0" err="1"/>
              <a:t>oem</a:t>
            </a:r>
            <a:r>
              <a:rPr lang="en-US" dirty="0"/>
              <a:t> brands. </a:t>
            </a:r>
            <a:r>
              <a:rPr lang="en-US" sz="12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These upgrades demand large teams of engineers and designers, even for basic apps like an Alarm or Calculator. – common sub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5717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Entrepreneurs and students can transform ideas into working mobile apps quickly without large budgets or coding skills.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sz="12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Organizations can create custom internal applications instantly, reducing IT backlog and dependency on external vendors.</a:t>
            </a:r>
            <a:endParaRPr lang="en-US" sz="1200" b="0" strike="noStrike" spc="-1" dirty="0">
              <a:latin typeface="+mn-l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10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6815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20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6799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algn="r">
              <a:buNone/>
            </a:pPr>
            <a:fld id="{45EC39A8-F917-4AFC-8D20-8A61A36F1DF3}" type="slidenum">
              <a:rPr lang="en-US" sz="1400" b="0" strike="noStrike" spc="-1" smtClean="0">
                <a:latin typeface="Times New Roman"/>
              </a:rPr>
              <a:t>21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5298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ubTitle"/>
          </p:nvPr>
        </p:nvSpPr>
        <p:spPr>
          <a:xfrm>
            <a:off x="950400" y="426600"/>
            <a:ext cx="17108640" cy="82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673488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1251936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95040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/>
          </p:nvPr>
        </p:nvSpPr>
        <p:spPr>
          <a:xfrm>
            <a:off x="673488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/>
          </p:nvPr>
        </p:nvSpPr>
        <p:spPr>
          <a:xfrm>
            <a:off x="1251936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ubTitle"/>
          </p:nvPr>
        </p:nvSpPr>
        <p:spPr>
          <a:xfrm>
            <a:off x="950400" y="426600"/>
            <a:ext cx="17108640" cy="82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73488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1251936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/>
          </p:nvPr>
        </p:nvSpPr>
        <p:spPr>
          <a:xfrm>
            <a:off x="95040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/>
          </p:nvPr>
        </p:nvSpPr>
        <p:spPr>
          <a:xfrm>
            <a:off x="673488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7" name="PlaceHolder 7"/>
          <p:cNvSpPr>
            <a:spLocks noGrp="1"/>
          </p:cNvSpPr>
          <p:nvPr>
            <p:ph/>
          </p:nvPr>
        </p:nvSpPr>
        <p:spPr>
          <a:xfrm>
            <a:off x="1251936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ubTitle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ubTitle"/>
          </p:nvPr>
        </p:nvSpPr>
        <p:spPr>
          <a:xfrm>
            <a:off x="950400" y="426600"/>
            <a:ext cx="17108640" cy="82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673488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1251936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/>
          </p:nvPr>
        </p:nvSpPr>
        <p:spPr>
          <a:xfrm>
            <a:off x="95040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/>
          </p:nvPr>
        </p:nvSpPr>
        <p:spPr>
          <a:xfrm>
            <a:off x="673488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/>
          </p:nvPr>
        </p:nvSpPr>
        <p:spPr>
          <a:xfrm>
            <a:off x="1251936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ubTitle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ubTitle"/>
          </p:nvPr>
        </p:nvSpPr>
        <p:spPr>
          <a:xfrm>
            <a:off x="950400" y="426600"/>
            <a:ext cx="17108640" cy="82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673488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1251936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/>
          </p:nvPr>
        </p:nvSpPr>
        <p:spPr>
          <a:xfrm>
            <a:off x="95040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/>
          </p:nvPr>
        </p:nvSpPr>
        <p:spPr>
          <a:xfrm>
            <a:off x="673488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4" name="PlaceHolder 7"/>
          <p:cNvSpPr>
            <a:spLocks noGrp="1"/>
          </p:cNvSpPr>
          <p:nvPr>
            <p:ph/>
          </p:nvPr>
        </p:nvSpPr>
        <p:spPr>
          <a:xfrm>
            <a:off x="1251936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ubTitle"/>
          </p:nvPr>
        </p:nvSpPr>
        <p:spPr>
          <a:xfrm>
            <a:off x="950400" y="426600"/>
            <a:ext cx="17108640" cy="82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6" name="PlaceHolder 5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673488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1251936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/>
          </p:nvPr>
        </p:nvSpPr>
        <p:spPr>
          <a:xfrm>
            <a:off x="95040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2" name="PlaceHolder 6"/>
          <p:cNvSpPr>
            <a:spLocks noGrp="1"/>
          </p:cNvSpPr>
          <p:nvPr>
            <p:ph/>
          </p:nvPr>
        </p:nvSpPr>
        <p:spPr>
          <a:xfrm>
            <a:off x="673488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3" name="PlaceHolder 7"/>
          <p:cNvSpPr>
            <a:spLocks noGrp="1"/>
          </p:cNvSpPr>
          <p:nvPr>
            <p:ph/>
          </p:nvPr>
        </p:nvSpPr>
        <p:spPr>
          <a:xfrm>
            <a:off x="1251936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ubTitle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ubTitle"/>
          </p:nvPr>
        </p:nvSpPr>
        <p:spPr>
          <a:xfrm>
            <a:off x="950400" y="426600"/>
            <a:ext cx="17108640" cy="82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8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/>
          </p:nvPr>
        </p:nvSpPr>
        <p:spPr>
          <a:xfrm>
            <a:off x="673488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8" name="PlaceHolder 4"/>
          <p:cNvSpPr>
            <a:spLocks noGrp="1"/>
          </p:cNvSpPr>
          <p:nvPr>
            <p:ph/>
          </p:nvPr>
        </p:nvSpPr>
        <p:spPr>
          <a:xfrm>
            <a:off x="1251936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9" name="PlaceHolder 5"/>
          <p:cNvSpPr>
            <a:spLocks noGrp="1"/>
          </p:cNvSpPr>
          <p:nvPr>
            <p:ph/>
          </p:nvPr>
        </p:nvSpPr>
        <p:spPr>
          <a:xfrm>
            <a:off x="95040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0" name="PlaceHolder 6"/>
          <p:cNvSpPr>
            <a:spLocks noGrp="1"/>
          </p:cNvSpPr>
          <p:nvPr>
            <p:ph/>
          </p:nvPr>
        </p:nvSpPr>
        <p:spPr>
          <a:xfrm>
            <a:off x="673488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1" name="PlaceHolder 7"/>
          <p:cNvSpPr>
            <a:spLocks noGrp="1"/>
          </p:cNvSpPr>
          <p:nvPr>
            <p:ph/>
          </p:nvPr>
        </p:nvSpPr>
        <p:spPr>
          <a:xfrm>
            <a:off x="1251936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subTitle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ubTitle"/>
          </p:nvPr>
        </p:nvSpPr>
        <p:spPr>
          <a:xfrm>
            <a:off x="950400" y="426600"/>
            <a:ext cx="17108640" cy="82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5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/>
          </p:nvPr>
        </p:nvSpPr>
        <p:spPr>
          <a:xfrm>
            <a:off x="950400" y="5741640"/>
            <a:ext cx="1710864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9717120" y="250200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/>
          </p:nvPr>
        </p:nvSpPr>
        <p:spPr>
          <a:xfrm>
            <a:off x="95040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3" name="PlaceHolder 5"/>
          <p:cNvSpPr>
            <a:spLocks noGrp="1"/>
          </p:cNvSpPr>
          <p:nvPr>
            <p:ph/>
          </p:nvPr>
        </p:nvSpPr>
        <p:spPr>
          <a:xfrm>
            <a:off x="9717120" y="5741640"/>
            <a:ext cx="834876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95040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673488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/>
          </p:nvPr>
        </p:nvSpPr>
        <p:spPr>
          <a:xfrm>
            <a:off x="12519360" y="250200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8" name="PlaceHolder 5"/>
          <p:cNvSpPr>
            <a:spLocks noGrp="1"/>
          </p:cNvSpPr>
          <p:nvPr>
            <p:ph/>
          </p:nvPr>
        </p:nvSpPr>
        <p:spPr>
          <a:xfrm>
            <a:off x="95040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9" name="PlaceHolder 6"/>
          <p:cNvSpPr>
            <a:spLocks noGrp="1"/>
          </p:cNvSpPr>
          <p:nvPr>
            <p:ph/>
          </p:nvPr>
        </p:nvSpPr>
        <p:spPr>
          <a:xfrm>
            <a:off x="673488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40" name="PlaceHolder 7"/>
          <p:cNvSpPr>
            <a:spLocks noGrp="1"/>
          </p:cNvSpPr>
          <p:nvPr>
            <p:ph/>
          </p:nvPr>
        </p:nvSpPr>
        <p:spPr>
          <a:xfrm>
            <a:off x="12519360" y="5741640"/>
            <a:ext cx="5508720" cy="295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5"/>
          <p:cNvGrpSpPr/>
          <p:nvPr/>
        </p:nvGrpSpPr>
        <p:grpSpPr>
          <a:xfrm>
            <a:off x="0" y="9865080"/>
            <a:ext cx="19009800" cy="809640"/>
            <a:chOff x="0" y="9865080"/>
            <a:chExt cx="19009800" cy="809640"/>
          </a:xfrm>
        </p:grpSpPr>
        <p:grpSp>
          <p:nvGrpSpPr>
            <p:cNvPr id="2" name="Group 6"/>
            <p:cNvGrpSpPr/>
            <p:nvPr/>
          </p:nvGrpSpPr>
          <p:grpSpPr>
            <a:xfrm>
              <a:off x="0" y="9865080"/>
              <a:ext cx="19009800" cy="809640"/>
              <a:chOff x="0" y="9865080"/>
              <a:chExt cx="19009800" cy="809640"/>
            </a:xfrm>
          </p:grpSpPr>
          <p:sp>
            <p:nvSpPr>
              <p:cNvPr id="3" name="object 2"/>
              <p:cNvSpPr/>
              <p:nvPr/>
            </p:nvSpPr>
            <p:spPr>
              <a:xfrm>
                <a:off x="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009EF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" name="object 3"/>
              <p:cNvSpPr/>
              <p:nvPr/>
            </p:nvSpPr>
            <p:spPr>
              <a:xfrm>
                <a:off x="14250600" y="9865080"/>
                <a:ext cx="475920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" name="object 2"/>
              <p:cNvSpPr/>
              <p:nvPr/>
            </p:nvSpPr>
            <p:spPr>
              <a:xfrm>
                <a:off x="47502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B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" name="object 2"/>
              <p:cNvSpPr/>
              <p:nvPr/>
            </p:nvSpPr>
            <p:spPr>
              <a:xfrm>
                <a:off x="95004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A1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7" name="object 5"/>
            <p:cNvSpPr/>
            <p:nvPr/>
          </p:nvSpPr>
          <p:spPr>
            <a:xfrm>
              <a:off x="0" y="10020600"/>
              <a:ext cx="466560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PES University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8" name="object 5"/>
            <p:cNvSpPr/>
            <p:nvPr/>
          </p:nvSpPr>
          <p:spPr>
            <a:xfrm>
              <a:off x="4722840" y="10032480"/>
              <a:ext cx="478152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Department of MCA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9" name="object 5"/>
            <p:cNvSpPr/>
            <p:nvPr/>
          </p:nvSpPr>
          <p:spPr>
            <a:xfrm>
              <a:off x="9505080" y="10017360"/>
              <a:ext cx="466560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Semester III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10" name="object 5"/>
            <p:cNvSpPr/>
            <p:nvPr/>
          </p:nvSpPr>
          <p:spPr>
            <a:xfrm>
              <a:off x="14223240" y="10007189"/>
              <a:ext cx="4558146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Capstone Project - Phase 1</a:t>
              </a:r>
              <a:endParaRPr lang="en-US" sz="2800" b="1" strike="noStrike" spc="-1" dirty="0">
                <a:latin typeface="Arial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30FB9D-CBA1-4BAA-B651-1285676B707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332036" y="150439"/>
            <a:ext cx="1289448" cy="21959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5"/>
          <p:cNvGrpSpPr/>
          <p:nvPr/>
        </p:nvGrpSpPr>
        <p:grpSpPr>
          <a:xfrm>
            <a:off x="0" y="9865080"/>
            <a:ext cx="19009800" cy="809640"/>
            <a:chOff x="0" y="9865080"/>
            <a:chExt cx="19009800" cy="809640"/>
          </a:xfrm>
        </p:grpSpPr>
        <p:grpSp>
          <p:nvGrpSpPr>
            <p:cNvPr id="51" name="Group 6"/>
            <p:cNvGrpSpPr/>
            <p:nvPr/>
          </p:nvGrpSpPr>
          <p:grpSpPr>
            <a:xfrm>
              <a:off x="0" y="9865080"/>
              <a:ext cx="19009800" cy="809640"/>
              <a:chOff x="0" y="9865080"/>
              <a:chExt cx="19009800" cy="809640"/>
            </a:xfrm>
          </p:grpSpPr>
          <p:sp>
            <p:nvSpPr>
              <p:cNvPr id="52" name="object 2"/>
              <p:cNvSpPr/>
              <p:nvPr/>
            </p:nvSpPr>
            <p:spPr>
              <a:xfrm>
                <a:off x="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009EF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3" name="object 3"/>
              <p:cNvSpPr/>
              <p:nvPr/>
            </p:nvSpPr>
            <p:spPr>
              <a:xfrm>
                <a:off x="14250600" y="9865080"/>
                <a:ext cx="475920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4" name="object 2"/>
              <p:cNvSpPr/>
              <p:nvPr/>
            </p:nvSpPr>
            <p:spPr>
              <a:xfrm>
                <a:off x="47502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B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5" name="object 2"/>
              <p:cNvSpPr/>
              <p:nvPr/>
            </p:nvSpPr>
            <p:spPr>
              <a:xfrm>
                <a:off x="95004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A1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56" name="object 5"/>
            <p:cNvSpPr/>
            <p:nvPr/>
          </p:nvSpPr>
          <p:spPr>
            <a:xfrm>
              <a:off x="0" y="10020600"/>
              <a:ext cx="466560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PES University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57" name="object 5"/>
            <p:cNvSpPr/>
            <p:nvPr/>
          </p:nvSpPr>
          <p:spPr>
            <a:xfrm>
              <a:off x="4722840" y="10032480"/>
              <a:ext cx="478152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Department of MCA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58" name="object 5"/>
            <p:cNvSpPr/>
            <p:nvPr/>
          </p:nvSpPr>
          <p:spPr>
            <a:xfrm>
              <a:off x="9505080" y="10017360"/>
              <a:ext cx="466560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           Semester III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59" name="object 5"/>
            <p:cNvSpPr/>
            <p:nvPr/>
          </p:nvSpPr>
          <p:spPr>
            <a:xfrm>
              <a:off x="13964681" y="10028880"/>
              <a:ext cx="478152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Capstone Project - Phase 1</a:t>
              </a:r>
              <a:endParaRPr lang="en-US" sz="2800" b="1" strike="noStrike" spc="-1" dirty="0">
                <a:latin typeface="Aria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0A7860A-5788-4FBB-AC3D-9C49FDC2024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496596" y="150440"/>
            <a:ext cx="1124888" cy="19157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5"/>
          <p:cNvGrpSpPr/>
          <p:nvPr/>
        </p:nvGrpSpPr>
        <p:grpSpPr>
          <a:xfrm>
            <a:off x="0" y="9865080"/>
            <a:ext cx="19009800" cy="809640"/>
            <a:chOff x="0" y="9865080"/>
            <a:chExt cx="19009800" cy="809640"/>
          </a:xfrm>
        </p:grpSpPr>
        <p:grpSp>
          <p:nvGrpSpPr>
            <p:cNvPr id="149" name="Group 6"/>
            <p:cNvGrpSpPr/>
            <p:nvPr/>
          </p:nvGrpSpPr>
          <p:grpSpPr>
            <a:xfrm>
              <a:off x="0" y="9865080"/>
              <a:ext cx="19009800" cy="809640"/>
              <a:chOff x="0" y="9865080"/>
              <a:chExt cx="19009800" cy="809640"/>
            </a:xfrm>
          </p:grpSpPr>
          <p:sp>
            <p:nvSpPr>
              <p:cNvPr id="150" name="object 2"/>
              <p:cNvSpPr/>
              <p:nvPr/>
            </p:nvSpPr>
            <p:spPr>
              <a:xfrm>
                <a:off x="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009EF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51" name="object 3"/>
              <p:cNvSpPr/>
              <p:nvPr/>
            </p:nvSpPr>
            <p:spPr>
              <a:xfrm>
                <a:off x="14250600" y="9865080"/>
                <a:ext cx="475920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52" name="object 2"/>
              <p:cNvSpPr/>
              <p:nvPr/>
            </p:nvSpPr>
            <p:spPr>
              <a:xfrm>
                <a:off x="47502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B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53" name="object 2"/>
              <p:cNvSpPr/>
              <p:nvPr/>
            </p:nvSpPr>
            <p:spPr>
              <a:xfrm>
                <a:off x="95004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A1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154" name="object 5"/>
            <p:cNvSpPr/>
            <p:nvPr/>
          </p:nvSpPr>
          <p:spPr>
            <a:xfrm>
              <a:off x="0" y="10020600"/>
              <a:ext cx="466560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PES University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155" name="object 5"/>
            <p:cNvSpPr/>
            <p:nvPr/>
          </p:nvSpPr>
          <p:spPr>
            <a:xfrm>
              <a:off x="4722840" y="10032480"/>
              <a:ext cx="478152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Department of MCA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156" name="object 5"/>
            <p:cNvSpPr/>
            <p:nvPr/>
          </p:nvSpPr>
          <p:spPr>
            <a:xfrm>
              <a:off x="9505080" y="10017360"/>
              <a:ext cx="466560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Semester III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157" name="object 5"/>
            <p:cNvSpPr/>
            <p:nvPr/>
          </p:nvSpPr>
          <p:spPr>
            <a:xfrm>
              <a:off x="14130935" y="10028880"/>
              <a:ext cx="478152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Capstone Project - Phase 1</a:t>
              </a:r>
              <a:endParaRPr lang="en-US" sz="2800" b="1" strike="noStrike" spc="-1" dirty="0">
                <a:latin typeface="Arial"/>
              </a:endParaRPr>
            </a:p>
          </p:txBody>
        </p:sp>
      </p:grp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D38BE1-DC88-4332-9115-15BE6B33C68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496596" y="150440"/>
            <a:ext cx="1124888" cy="19157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5"/>
          <p:cNvGrpSpPr/>
          <p:nvPr/>
        </p:nvGrpSpPr>
        <p:grpSpPr>
          <a:xfrm>
            <a:off x="0" y="9865080"/>
            <a:ext cx="19009800" cy="809640"/>
            <a:chOff x="0" y="9865080"/>
            <a:chExt cx="19009800" cy="809640"/>
          </a:xfrm>
        </p:grpSpPr>
        <p:grpSp>
          <p:nvGrpSpPr>
            <p:cNvPr id="198" name="Group 6"/>
            <p:cNvGrpSpPr/>
            <p:nvPr/>
          </p:nvGrpSpPr>
          <p:grpSpPr>
            <a:xfrm>
              <a:off x="0" y="9865080"/>
              <a:ext cx="19009800" cy="809640"/>
              <a:chOff x="0" y="9865080"/>
              <a:chExt cx="19009800" cy="809640"/>
            </a:xfrm>
          </p:grpSpPr>
          <p:sp>
            <p:nvSpPr>
              <p:cNvPr id="199" name="object 2"/>
              <p:cNvSpPr/>
              <p:nvPr/>
            </p:nvSpPr>
            <p:spPr>
              <a:xfrm>
                <a:off x="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009EF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00" name="object 3"/>
              <p:cNvSpPr/>
              <p:nvPr/>
            </p:nvSpPr>
            <p:spPr>
              <a:xfrm>
                <a:off x="14250600" y="9865080"/>
                <a:ext cx="475920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01" name="object 2"/>
              <p:cNvSpPr/>
              <p:nvPr/>
            </p:nvSpPr>
            <p:spPr>
              <a:xfrm>
                <a:off x="47502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B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02" name="object 2"/>
              <p:cNvSpPr/>
              <p:nvPr/>
            </p:nvSpPr>
            <p:spPr>
              <a:xfrm>
                <a:off x="95004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A1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203" name="object 5"/>
            <p:cNvSpPr/>
            <p:nvPr/>
          </p:nvSpPr>
          <p:spPr>
            <a:xfrm>
              <a:off x="0" y="10020600"/>
              <a:ext cx="466560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PES University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204" name="object 5"/>
            <p:cNvSpPr/>
            <p:nvPr/>
          </p:nvSpPr>
          <p:spPr>
            <a:xfrm>
              <a:off x="4722840" y="10032480"/>
              <a:ext cx="478152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Department of MCA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205" name="object 5"/>
            <p:cNvSpPr/>
            <p:nvPr/>
          </p:nvSpPr>
          <p:spPr>
            <a:xfrm>
              <a:off x="9505080" y="10017360"/>
              <a:ext cx="466560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Semester III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206" name="object 5"/>
            <p:cNvSpPr/>
            <p:nvPr/>
          </p:nvSpPr>
          <p:spPr>
            <a:xfrm>
              <a:off x="14227920" y="10028880"/>
              <a:ext cx="478152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Capstone Project - Phase 1</a:t>
              </a:r>
              <a:endParaRPr lang="en-US" sz="2800" b="1" strike="noStrike" spc="-1" dirty="0">
                <a:latin typeface="Arial"/>
              </a:endParaRPr>
            </a:p>
          </p:txBody>
        </p:sp>
      </p:grp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9450E8-B70C-4B1D-ADF3-D3F0E325919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496596" y="150440"/>
            <a:ext cx="1124888" cy="19157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roup 5"/>
          <p:cNvGrpSpPr/>
          <p:nvPr/>
        </p:nvGrpSpPr>
        <p:grpSpPr>
          <a:xfrm>
            <a:off x="0" y="9865080"/>
            <a:ext cx="19009800" cy="809640"/>
            <a:chOff x="0" y="9865080"/>
            <a:chExt cx="19009800" cy="809640"/>
          </a:xfrm>
        </p:grpSpPr>
        <p:grpSp>
          <p:nvGrpSpPr>
            <p:cNvPr id="247" name="Group 6"/>
            <p:cNvGrpSpPr/>
            <p:nvPr/>
          </p:nvGrpSpPr>
          <p:grpSpPr>
            <a:xfrm>
              <a:off x="0" y="9865080"/>
              <a:ext cx="19009800" cy="809640"/>
              <a:chOff x="0" y="9865080"/>
              <a:chExt cx="19009800" cy="809640"/>
            </a:xfrm>
          </p:grpSpPr>
          <p:sp>
            <p:nvSpPr>
              <p:cNvPr id="248" name="object 2"/>
              <p:cNvSpPr/>
              <p:nvPr/>
            </p:nvSpPr>
            <p:spPr>
              <a:xfrm>
                <a:off x="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009EF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9" name="object 3"/>
              <p:cNvSpPr/>
              <p:nvPr/>
            </p:nvSpPr>
            <p:spPr>
              <a:xfrm>
                <a:off x="14250600" y="9865080"/>
                <a:ext cx="475920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0" name="object 2"/>
              <p:cNvSpPr/>
              <p:nvPr/>
            </p:nvSpPr>
            <p:spPr>
              <a:xfrm>
                <a:off x="47502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B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1" name="object 2"/>
              <p:cNvSpPr/>
              <p:nvPr/>
            </p:nvSpPr>
            <p:spPr>
              <a:xfrm>
                <a:off x="95004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A1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252" name="object 5"/>
            <p:cNvSpPr/>
            <p:nvPr/>
          </p:nvSpPr>
          <p:spPr>
            <a:xfrm>
              <a:off x="0" y="10020600"/>
              <a:ext cx="466560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PES University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253" name="object 5"/>
            <p:cNvSpPr/>
            <p:nvPr/>
          </p:nvSpPr>
          <p:spPr>
            <a:xfrm>
              <a:off x="4722840" y="10032480"/>
              <a:ext cx="478152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Department of MCA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254" name="object 5"/>
            <p:cNvSpPr/>
            <p:nvPr/>
          </p:nvSpPr>
          <p:spPr>
            <a:xfrm>
              <a:off x="9505080" y="10017360"/>
              <a:ext cx="466560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Semester III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255" name="object 5"/>
            <p:cNvSpPr/>
            <p:nvPr/>
          </p:nvSpPr>
          <p:spPr>
            <a:xfrm>
              <a:off x="14227920" y="10028880"/>
              <a:ext cx="478152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Capstone Project - Phase 1</a:t>
              </a:r>
              <a:endParaRPr lang="en-US" sz="2800" b="1" strike="noStrike" spc="-1" dirty="0">
                <a:latin typeface="Arial"/>
              </a:endParaRPr>
            </a:p>
          </p:txBody>
        </p:sp>
      </p:grpSp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E47269-B349-4695-B384-092AC7FC1B7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496596" y="150440"/>
            <a:ext cx="1124888" cy="19157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roup 5"/>
          <p:cNvGrpSpPr/>
          <p:nvPr/>
        </p:nvGrpSpPr>
        <p:grpSpPr>
          <a:xfrm>
            <a:off x="0" y="9865080"/>
            <a:ext cx="18898961" cy="809640"/>
            <a:chOff x="0" y="9865080"/>
            <a:chExt cx="18898961" cy="809640"/>
          </a:xfrm>
        </p:grpSpPr>
        <p:grpSp>
          <p:nvGrpSpPr>
            <p:cNvPr id="345" name="Group 6"/>
            <p:cNvGrpSpPr/>
            <p:nvPr/>
          </p:nvGrpSpPr>
          <p:grpSpPr>
            <a:xfrm>
              <a:off x="0" y="9865080"/>
              <a:ext cx="18898961" cy="809640"/>
              <a:chOff x="0" y="9865080"/>
              <a:chExt cx="18898961" cy="809640"/>
            </a:xfrm>
          </p:grpSpPr>
          <p:sp>
            <p:nvSpPr>
              <p:cNvPr id="346" name="object 2"/>
              <p:cNvSpPr/>
              <p:nvPr/>
            </p:nvSpPr>
            <p:spPr>
              <a:xfrm>
                <a:off x="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009EF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7" name="object 3"/>
              <p:cNvSpPr/>
              <p:nvPr/>
            </p:nvSpPr>
            <p:spPr>
              <a:xfrm>
                <a:off x="14139761" y="9865080"/>
                <a:ext cx="475920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8" name="object 2"/>
              <p:cNvSpPr/>
              <p:nvPr/>
            </p:nvSpPr>
            <p:spPr>
              <a:xfrm>
                <a:off x="47502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B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9" name="object 2"/>
              <p:cNvSpPr/>
              <p:nvPr/>
            </p:nvSpPr>
            <p:spPr>
              <a:xfrm>
                <a:off x="95004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A1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350" name="object 5"/>
            <p:cNvSpPr/>
            <p:nvPr/>
          </p:nvSpPr>
          <p:spPr>
            <a:xfrm>
              <a:off x="0" y="10020600"/>
              <a:ext cx="466560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PES University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351" name="object 5"/>
            <p:cNvSpPr/>
            <p:nvPr/>
          </p:nvSpPr>
          <p:spPr>
            <a:xfrm>
              <a:off x="4722840" y="10032480"/>
              <a:ext cx="478152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Department of MCA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352" name="object 5"/>
            <p:cNvSpPr/>
            <p:nvPr/>
          </p:nvSpPr>
          <p:spPr>
            <a:xfrm>
              <a:off x="9505080" y="10017360"/>
              <a:ext cx="466560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Semester III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353" name="object 5"/>
            <p:cNvSpPr/>
            <p:nvPr/>
          </p:nvSpPr>
          <p:spPr>
            <a:xfrm>
              <a:off x="13909265" y="10028880"/>
              <a:ext cx="478152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Capstone Project - Phase 1</a:t>
              </a:r>
              <a:endParaRPr lang="en-US" sz="2800" b="1" strike="noStrike" spc="-1" dirty="0">
                <a:latin typeface="Arial"/>
              </a:endParaRPr>
            </a:p>
          </p:txBody>
        </p:sp>
      </p:grp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9B0674-82EE-47EF-B68F-7009D7F9D18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496596" y="150440"/>
            <a:ext cx="1124888" cy="19157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roup 5"/>
          <p:cNvGrpSpPr/>
          <p:nvPr/>
        </p:nvGrpSpPr>
        <p:grpSpPr>
          <a:xfrm>
            <a:off x="0" y="9865080"/>
            <a:ext cx="19009800" cy="809640"/>
            <a:chOff x="0" y="9865080"/>
            <a:chExt cx="19009800" cy="809640"/>
          </a:xfrm>
        </p:grpSpPr>
        <p:grpSp>
          <p:nvGrpSpPr>
            <p:cNvPr id="394" name="Group 6"/>
            <p:cNvGrpSpPr/>
            <p:nvPr/>
          </p:nvGrpSpPr>
          <p:grpSpPr>
            <a:xfrm>
              <a:off x="0" y="9865080"/>
              <a:ext cx="19009800" cy="809640"/>
              <a:chOff x="0" y="9865080"/>
              <a:chExt cx="19009800" cy="809640"/>
            </a:xfrm>
          </p:grpSpPr>
          <p:sp>
            <p:nvSpPr>
              <p:cNvPr id="395" name="object 2"/>
              <p:cNvSpPr/>
              <p:nvPr/>
            </p:nvSpPr>
            <p:spPr>
              <a:xfrm>
                <a:off x="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009EF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96" name="object 3"/>
              <p:cNvSpPr/>
              <p:nvPr/>
            </p:nvSpPr>
            <p:spPr>
              <a:xfrm>
                <a:off x="14250600" y="9865080"/>
                <a:ext cx="475920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83409" h="440055">
                    <a:moveTo>
                      <a:pt x="0" y="0"/>
                    </a:moveTo>
                    <a:lnTo>
                      <a:pt x="0" y="439737"/>
                    </a:lnTo>
                    <a:lnTo>
                      <a:pt x="1883155" y="439737"/>
                    </a:lnTo>
                    <a:lnTo>
                      <a:pt x="188315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2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97" name="object 2"/>
              <p:cNvSpPr/>
              <p:nvPr/>
            </p:nvSpPr>
            <p:spPr>
              <a:xfrm>
                <a:off x="47502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BF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98" name="object 2"/>
              <p:cNvSpPr/>
              <p:nvPr/>
            </p:nvSpPr>
            <p:spPr>
              <a:xfrm>
                <a:off x="9500400" y="9865080"/>
                <a:ext cx="4781520" cy="809640"/>
              </a:xfrm>
              <a:custGeom>
                <a:avLst/>
                <a:gdLst/>
                <a:ahLst/>
                <a:cxnLst/>
                <a:rect l="l" t="t" r="r" b="b"/>
                <a:pathLst>
                  <a:path w="1892300" h="440055">
                    <a:moveTo>
                      <a:pt x="0" y="439737"/>
                    </a:moveTo>
                    <a:lnTo>
                      <a:pt x="1892300" y="439737"/>
                    </a:lnTo>
                    <a:lnTo>
                      <a:pt x="1892300" y="0"/>
                    </a:lnTo>
                    <a:lnTo>
                      <a:pt x="0" y="0"/>
                    </a:lnTo>
                    <a:lnTo>
                      <a:pt x="0" y="439737"/>
                    </a:lnTo>
                    <a:close/>
                  </a:path>
                </a:pathLst>
              </a:custGeom>
              <a:solidFill>
                <a:srgbClr val="FFA1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399" name="object 5"/>
            <p:cNvSpPr/>
            <p:nvPr/>
          </p:nvSpPr>
          <p:spPr>
            <a:xfrm>
              <a:off x="0" y="10020600"/>
              <a:ext cx="466560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PES University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400" name="object 5"/>
            <p:cNvSpPr/>
            <p:nvPr/>
          </p:nvSpPr>
          <p:spPr>
            <a:xfrm>
              <a:off x="4722840" y="10032480"/>
              <a:ext cx="4781520" cy="51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>
                  <a:solidFill>
                    <a:srgbClr val="FFFFFF"/>
                  </a:solidFill>
                  <a:latin typeface="Calibri"/>
                  <a:ea typeface="DejaVu Sans"/>
                </a:rPr>
                <a:t>Department of MCA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401" name="object 5"/>
            <p:cNvSpPr/>
            <p:nvPr/>
          </p:nvSpPr>
          <p:spPr>
            <a:xfrm>
              <a:off x="9505080" y="10017360"/>
              <a:ext cx="466560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Semester III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402" name="object 5"/>
            <p:cNvSpPr/>
            <p:nvPr/>
          </p:nvSpPr>
          <p:spPr>
            <a:xfrm>
              <a:off x="14130935" y="10028880"/>
              <a:ext cx="4781520" cy="5192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87480" rIns="0" bIns="0" anchor="t">
              <a:spAutoFit/>
            </a:bodyPr>
            <a:lstStyle/>
            <a:p>
              <a:pPr marL="495360">
                <a:lnSpc>
                  <a:spcPct val="100000"/>
                </a:lnSpc>
                <a:spcBef>
                  <a:spcPts val="689"/>
                </a:spcBef>
                <a:buNone/>
              </a:pPr>
              <a:r>
                <a:rPr lang="en-US" sz="2800" b="1" strike="noStrike" spc="-12" dirty="0">
                  <a:solidFill>
                    <a:srgbClr val="FFFFFF"/>
                  </a:solidFill>
                  <a:latin typeface="Calibri"/>
                  <a:ea typeface="DejaVu Sans"/>
                </a:rPr>
                <a:t>Capstone Project - Phase 1</a:t>
              </a:r>
              <a:endParaRPr lang="en-US" sz="2800" b="1" strike="noStrike" spc="-1" dirty="0">
                <a:latin typeface="Arial"/>
              </a:endParaRPr>
            </a:p>
          </p:txBody>
        </p:sp>
      </p:grpSp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950400" y="426600"/>
            <a:ext cx="17108640" cy="178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950400" y="2502000"/>
            <a:ext cx="17108640" cy="620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09E17F-01D0-4BFA-859F-5AC67119C35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496596" y="150440"/>
            <a:ext cx="1124888" cy="19157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aws.amazon.com/" TargetMode="External"/><Relationship Id="rId3" Type="http://schemas.openxmlformats.org/officeDocument/2006/relationships/hyperlink" Target="https://react.dev/" TargetMode="External"/><Relationship Id="rId7" Type="http://schemas.openxmlformats.org/officeDocument/2006/relationships/hyperlink" Target="https://stripe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3.xml"/><Relationship Id="rId6" Type="http://schemas.openxmlformats.org/officeDocument/2006/relationships/hyperlink" Target="https://tailwindcss.com/" TargetMode="External"/><Relationship Id="rId5" Type="http://schemas.openxmlformats.org/officeDocument/2006/relationships/hyperlink" Target="https://expressjs.com/" TargetMode="External"/><Relationship Id="rId10" Type="http://schemas.openxmlformats.org/officeDocument/2006/relationships/hyperlink" Target="https://www.mongodb.com/" TargetMode="External"/><Relationship Id="rId4" Type="http://schemas.openxmlformats.org/officeDocument/2006/relationships/hyperlink" Target="https://nodejs.org/" TargetMode="External"/><Relationship Id="rId9" Type="http://schemas.openxmlformats.org/officeDocument/2006/relationships/hyperlink" Target="https://github.com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object 18"/>
          <p:cNvSpPr/>
          <p:nvPr/>
        </p:nvSpPr>
        <p:spPr>
          <a:xfrm>
            <a:off x="1289958" y="2664221"/>
            <a:ext cx="15789728" cy="22287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1222920" indent="-121104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IN" sz="7200" dirty="0"/>
              <a:t>🏡🖥️</a:t>
            </a:r>
            <a:r>
              <a:rPr lang="en-IN" sz="7200" dirty="0" err="1">
                <a:solidFill>
                  <a:schemeClr val="accent1">
                    <a:lumMod val="75000"/>
                  </a:schemeClr>
                </a:solidFill>
              </a:rPr>
              <a:t>WorkNest</a:t>
            </a:r>
            <a:r>
              <a:rPr lang="en-IN" sz="6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sz="6000" b="1" dirty="0">
                <a:solidFill>
                  <a:schemeClr val="accent1">
                    <a:lumMod val="75000"/>
                  </a:schemeClr>
                </a:solidFill>
              </a:rPr>
              <a:t>|</a:t>
            </a:r>
            <a:r>
              <a:rPr lang="en-IN" sz="6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7200" dirty="0">
                <a:solidFill>
                  <a:schemeClr val="accent1">
                    <a:lumMod val="75000"/>
                  </a:schemeClr>
                </a:solidFill>
              </a:rPr>
              <a:t>Your nest for smarter working</a:t>
            </a:r>
            <a:endParaRPr lang="en-US" sz="7200" strike="noStrike" spc="-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8" name="object 19"/>
          <p:cNvSpPr/>
          <p:nvPr/>
        </p:nvSpPr>
        <p:spPr>
          <a:xfrm flipV="1">
            <a:off x="2651760" y="4737960"/>
            <a:ext cx="13807080" cy="273600"/>
          </a:xfrm>
          <a:custGeom>
            <a:avLst/>
            <a:gdLst/>
            <a:ahLst/>
            <a:cxnLst/>
            <a:rect l="l" t="t" r="r" b="b"/>
            <a:pathLst>
              <a:path w="4686300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8466">
            <a:solidFill>
              <a:srgbClr val="002E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9" name="object 12"/>
          <p:cNvSpPr/>
          <p:nvPr/>
        </p:nvSpPr>
        <p:spPr>
          <a:xfrm>
            <a:off x="183959" y="7299360"/>
            <a:ext cx="7963997" cy="12437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5040" rIns="0" bIns="0" anchor="t">
            <a:spAutoFit/>
          </a:bodyPr>
          <a:lstStyle/>
          <a:p>
            <a:pPr>
              <a:lnSpc>
                <a:spcPct val="150000"/>
              </a:lnSpc>
              <a:spcBef>
                <a:spcPts val="99"/>
              </a:spcBef>
              <a:buNone/>
              <a:tabLst>
                <a:tab pos="128160" algn="l"/>
              </a:tabLst>
            </a:pPr>
            <a:r>
              <a:rPr lang="en-US" sz="2800" b="1" strike="noStrike" spc="-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		:	</a:t>
            </a:r>
            <a:r>
              <a:rPr lang="en-US" sz="2800" b="1" spc="-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PATEL KEYURKUMAR NARESHBHAI</a:t>
            </a:r>
            <a:endParaRPr lang="en-US" sz="2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99"/>
              </a:spcBef>
              <a:buNone/>
              <a:tabLst>
                <a:tab pos="128160" algn="l"/>
              </a:tabLst>
            </a:pPr>
            <a:r>
              <a:rPr lang="en-US" sz="2800" b="1" strike="noStrike" spc="-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SRN		:	PES1PG24CA113</a:t>
            </a:r>
            <a:endParaRPr lang="en-US" sz="2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0" name="object 1"/>
          <p:cNvSpPr/>
          <p:nvPr/>
        </p:nvSpPr>
        <p:spPr>
          <a:xfrm>
            <a:off x="0" y="6257880"/>
            <a:ext cx="4780080" cy="827280"/>
          </a:xfrm>
          <a:custGeom>
            <a:avLst/>
            <a:gdLst/>
            <a:ahLst/>
            <a:cxnLst/>
            <a:rect l="l" t="t" r="r" b="b"/>
            <a:pathLst>
              <a:path w="1909445" h="437514">
                <a:moveTo>
                  <a:pt x="1690241" y="0"/>
                </a:moveTo>
                <a:lnTo>
                  <a:pt x="0" y="0"/>
                </a:lnTo>
                <a:lnTo>
                  <a:pt x="0" y="437154"/>
                </a:lnTo>
                <a:lnTo>
                  <a:pt x="1690241" y="437154"/>
                </a:lnTo>
                <a:lnTo>
                  <a:pt x="1740359" y="431381"/>
                </a:lnTo>
                <a:lnTo>
                  <a:pt x="1786366" y="414937"/>
                </a:lnTo>
                <a:lnTo>
                  <a:pt x="1826950" y="389135"/>
                </a:lnTo>
                <a:lnTo>
                  <a:pt x="1860800" y="355285"/>
                </a:lnTo>
                <a:lnTo>
                  <a:pt x="1886602" y="314701"/>
                </a:lnTo>
                <a:lnTo>
                  <a:pt x="1903046" y="268694"/>
                </a:lnTo>
                <a:lnTo>
                  <a:pt x="1908818" y="218577"/>
                </a:lnTo>
                <a:lnTo>
                  <a:pt x="1903046" y="168459"/>
                </a:lnTo>
                <a:lnTo>
                  <a:pt x="1886602" y="122452"/>
                </a:lnTo>
                <a:lnTo>
                  <a:pt x="1860800" y="81868"/>
                </a:lnTo>
                <a:lnTo>
                  <a:pt x="1826950" y="48018"/>
                </a:lnTo>
                <a:lnTo>
                  <a:pt x="1786366" y="22216"/>
                </a:lnTo>
                <a:lnTo>
                  <a:pt x="1740359" y="5772"/>
                </a:lnTo>
                <a:lnTo>
                  <a:pt x="1690241" y="0"/>
                </a:lnTo>
                <a:close/>
              </a:path>
            </a:pathLst>
          </a:custGeom>
          <a:solidFill>
            <a:srgbClr val="FFA00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1" name="object 2"/>
          <p:cNvSpPr/>
          <p:nvPr/>
        </p:nvSpPr>
        <p:spPr>
          <a:xfrm>
            <a:off x="0" y="6368040"/>
            <a:ext cx="4780080" cy="5667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1" strike="noStrike" spc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Details</a:t>
            </a:r>
            <a:endParaRPr lang="en-US" sz="36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52" name="Group 51"/>
          <p:cNvGrpSpPr/>
          <p:nvPr/>
        </p:nvGrpSpPr>
        <p:grpSpPr>
          <a:xfrm>
            <a:off x="14249520" y="6249240"/>
            <a:ext cx="4780080" cy="827280"/>
            <a:chOff x="14249520" y="6249240"/>
            <a:chExt cx="4780080" cy="827280"/>
          </a:xfrm>
        </p:grpSpPr>
        <p:sp>
          <p:nvSpPr>
            <p:cNvPr id="453" name="object 3"/>
            <p:cNvSpPr/>
            <p:nvPr/>
          </p:nvSpPr>
          <p:spPr>
            <a:xfrm flipH="1">
              <a:off x="14704560" y="6249240"/>
              <a:ext cx="4325040" cy="8272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4" name="object 6"/>
            <p:cNvSpPr/>
            <p:nvPr/>
          </p:nvSpPr>
          <p:spPr>
            <a:xfrm flipH="1">
              <a:off x="14249160" y="6249240"/>
              <a:ext cx="787320" cy="8272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55" name="object 7"/>
          <p:cNvSpPr/>
          <p:nvPr/>
        </p:nvSpPr>
        <p:spPr>
          <a:xfrm flipH="1">
            <a:off x="14249520" y="6369480"/>
            <a:ext cx="4744800" cy="5667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1" strike="noStrike" spc="-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 Details</a:t>
            </a:r>
            <a:endParaRPr lang="en-US" sz="36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6" name="object 8"/>
          <p:cNvSpPr/>
          <p:nvPr/>
        </p:nvSpPr>
        <p:spPr>
          <a:xfrm>
            <a:off x="14447520" y="7299360"/>
            <a:ext cx="4388760" cy="12410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99"/>
              </a:spcBef>
              <a:buNone/>
              <a:tabLst>
                <a:tab pos="128160" algn="l"/>
              </a:tabLst>
            </a:pPr>
            <a:r>
              <a:rPr lang="en-US" sz="2800" b="1" strike="noStrike" spc="-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Tamal Dey</a:t>
            </a:r>
          </a:p>
          <a:p>
            <a:pPr algn="ctr">
              <a:lnSpc>
                <a:spcPct val="150000"/>
              </a:lnSpc>
              <a:spcBef>
                <a:spcPts val="99"/>
              </a:spcBef>
              <a:buNone/>
              <a:tabLst>
                <a:tab pos="128160" algn="l"/>
              </a:tabLst>
            </a:pPr>
            <a:r>
              <a:rPr lang="en-US" sz="2800" b="1" strike="noStrike" spc="-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Assistant Professor</a:t>
            </a:r>
            <a:endParaRPr lang="en-US" sz="2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300075-A54D-45CB-B00A-79F8A40B017D}"/>
              </a:ext>
            </a:extLst>
          </p:cNvPr>
          <p:cNvSpPr/>
          <p:nvPr/>
        </p:nvSpPr>
        <p:spPr>
          <a:xfrm>
            <a:off x="5400046" y="5107135"/>
            <a:ext cx="8210220" cy="59960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spc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UQ25CA741A - Capstone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3600" b="1" spc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- Phase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roup 22"/>
          <p:cNvGrpSpPr/>
          <p:nvPr/>
        </p:nvGrpSpPr>
        <p:grpSpPr>
          <a:xfrm>
            <a:off x="0" y="839520"/>
            <a:ext cx="5120280" cy="1037880"/>
            <a:chOff x="0" y="839520"/>
            <a:chExt cx="5120280" cy="1037880"/>
          </a:xfrm>
        </p:grpSpPr>
        <p:sp>
          <p:nvSpPr>
            <p:cNvPr id="458" name="object 4"/>
            <p:cNvSpPr/>
            <p:nvPr/>
          </p:nvSpPr>
          <p:spPr>
            <a:xfrm>
              <a:off x="0" y="839520"/>
              <a:ext cx="46839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9" name="object 5"/>
            <p:cNvSpPr/>
            <p:nvPr/>
          </p:nvSpPr>
          <p:spPr>
            <a:xfrm>
              <a:off x="4234320" y="839520"/>
              <a:ext cx="88596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0" name="object 9"/>
          <p:cNvSpPr/>
          <p:nvPr/>
        </p:nvSpPr>
        <p:spPr>
          <a:xfrm>
            <a:off x="114120" y="957600"/>
            <a:ext cx="4802760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algn="ctr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US" sz="44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1" name="object 10"/>
          <p:cNvSpPr/>
          <p:nvPr/>
        </p:nvSpPr>
        <p:spPr>
          <a:xfrm>
            <a:off x="365760" y="2743200"/>
            <a:ext cx="18104760" cy="4888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630238" indent="-53975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</a:t>
            </a:r>
          </a:p>
          <a:p>
            <a:pPr marL="630238" indent="-53975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roblem scenario /  </a:t>
            </a:r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</a:t>
            </a:r>
          </a:p>
          <a:p>
            <a:pPr marL="630238" indent="-53975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  <a:p>
            <a:pPr marL="630238" indent="-53975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unctionalities</a:t>
            </a:r>
          </a:p>
          <a:p>
            <a:pPr marL="630238" indent="-53975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ools and Technologies</a:t>
            </a:r>
          </a:p>
          <a:p>
            <a:pPr marL="630238" indent="-53975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</a:pPr>
            <a:r>
              <a:rPr lang="en-US" sz="36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3600" b="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pplication in the real world</a:t>
            </a:r>
            <a:endParaRPr lang="en-US" sz="3600" b="0" i="1" strike="sng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476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roup 22"/>
          <p:cNvGrpSpPr/>
          <p:nvPr/>
        </p:nvGrpSpPr>
        <p:grpSpPr>
          <a:xfrm>
            <a:off x="0" y="839520"/>
            <a:ext cx="5120280" cy="1037880"/>
            <a:chOff x="0" y="839520"/>
            <a:chExt cx="5120280" cy="1037880"/>
          </a:xfrm>
        </p:grpSpPr>
        <p:sp>
          <p:nvSpPr>
            <p:cNvPr id="458" name="object 4"/>
            <p:cNvSpPr/>
            <p:nvPr/>
          </p:nvSpPr>
          <p:spPr>
            <a:xfrm>
              <a:off x="0" y="839520"/>
              <a:ext cx="46839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9" name="object 5"/>
            <p:cNvSpPr/>
            <p:nvPr/>
          </p:nvSpPr>
          <p:spPr>
            <a:xfrm>
              <a:off x="4234320" y="839520"/>
              <a:ext cx="88596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0" name="object 9"/>
          <p:cNvSpPr/>
          <p:nvPr/>
        </p:nvSpPr>
        <p:spPr>
          <a:xfrm>
            <a:off x="114120" y="957600"/>
            <a:ext cx="4802760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</a:t>
            </a:r>
            <a:endParaRPr lang="en-US" sz="44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1" name="object 10"/>
          <p:cNvSpPr/>
          <p:nvPr/>
        </p:nvSpPr>
        <p:spPr>
          <a:xfrm>
            <a:off x="1051560" y="2808515"/>
            <a:ext cx="16112101" cy="59550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5040" rIns="0" bIns="0" anchor="t">
            <a:spAutoFit/>
          </a:bodyPr>
          <a:lstStyle/>
          <a:p>
            <a:r>
              <a:rPr lang="en-US" sz="3200" dirty="0"/>
              <a:t>The </a:t>
            </a:r>
            <a:r>
              <a:rPr lang="en-US" sz="3200" b="1" dirty="0"/>
              <a:t>Co-working Space Discovery and Booking Platform</a:t>
            </a:r>
            <a:r>
              <a:rPr lang="en-US" sz="3200" dirty="0"/>
              <a:t> helps users easily find and book coworking spaces based on location, amenities, and capacity. It provides detailed listings with photos, maps, and reviews to make decision-making simple.</a:t>
            </a:r>
          </a:p>
          <a:p>
            <a:endParaRPr lang="en-US" sz="3200" dirty="0"/>
          </a:p>
          <a:p>
            <a:r>
              <a:rPr lang="en-US" sz="3200" dirty="0"/>
              <a:t>The platform includes a </a:t>
            </a:r>
            <a:r>
              <a:rPr lang="en-US" sz="3200" b="1" dirty="0"/>
              <a:t>smart recommendation system</a:t>
            </a:r>
            <a:r>
              <a:rPr lang="en-US" sz="3200" dirty="0"/>
              <a:t> that suggests spaces according to user preferences and past bookings, making the selection process faster and more personalized.</a:t>
            </a:r>
          </a:p>
          <a:p>
            <a:endParaRPr lang="en-US" sz="3200" dirty="0"/>
          </a:p>
          <a:p>
            <a:r>
              <a:rPr lang="en-US" sz="3200" dirty="0"/>
              <a:t>It also generates a </a:t>
            </a:r>
            <a:r>
              <a:rPr lang="en-US" sz="3200" b="1" dirty="0"/>
              <a:t>booking agreement</a:t>
            </a:r>
            <a:r>
              <a:rPr lang="en-US" sz="3200" dirty="0"/>
              <a:t> with team details, space information, and capacity rules to ensure proper usage. This project combines convenience, personalization, and accountability for both users and space providers.</a:t>
            </a:r>
          </a:p>
          <a:p>
            <a:pPr algn="just">
              <a:lnSpc>
                <a:spcPct val="115000"/>
              </a:lnSpc>
              <a:buClr>
                <a:srgbClr val="000000"/>
              </a:buClr>
            </a:pPr>
            <a:endParaRPr lang="en-US" sz="320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roup 15"/>
          <p:cNvGrpSpPr/>
          <p:nvPr/>
        </p:nvGrpSpPr>
        <p:grpSpPr>
          <a:xfrm>
            <a:off x="0" y="839520"/>
            <a:ext cx="4934309" cy="1037880"/>
            <a:chOff x="0" y="839520"/>
            <a:chExt cx="5120280" cy="1037880"/>
          </a:xfrm>
        </p:grpSpPr>
        <p:sp>
          <p:nvSpPr>
            <p:cNvPr id="463" name="object 82"/>
            <p:cNvSpPr/>
            <p:nvPr/>
          </p:nvSpPr>
          <p:spPr>
            <a:xfrm>
              <a:off x="0" y="839520"/>
              <a:ext cx="46839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4" name="object 83"/>
            <p:cNvSpPr/>
            <p:nvPr/>
          </p:nvSpPr>
          <p:spPr>
            <a:xfrm>
              <a:off x="4234320" y="839520"/>
              <a:ext cx="88596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5" name="object 84"/>
          <p:cNvSpPr/>
          <p:nvPr/>
        </p:nvSpPr>
        <p:spPr>
          <a:xfrm>
            <a:off x="114120" y="957600"/>
            <a:ext cx="4513836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</a:t>
            </a:r>
            <a:r>
              <a:rPr lang="en-IN" sz="4400" b="1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</a:t>
            </a:r>
            <a:endParaRPr lang="en-US" sz="4400" b="1" spc="-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F0069-890A-EBDD-6D3A-884B74388A5D}"/>
              </a:ext>
            </a:extLst>
          </p:cNvPr>
          <p:cNvSpPr txBox="1"/>
          <p:nvPr/>
        </p:nvSpPr>
        <p:spPr>
          <a:xfrm>
            <a:off x="489857" y="2838321"/>
            <a:ext cx="1564277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dirty="0"/>
              <a:t>Professionals, freelancers, and small businesses often struggle to find suitable coworking spaces.</a:t>
            </a:r>
          </a:p>
          <a:p>
            <a:endParaRPr lang="en-IN" sz="3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dirty="0"/>
              <a:t>Existing platforms are fragmented and do not provide clear information on space availability, amenities, or capacity limits.</a:t>
            </a:r>
          </a:p>
          <a:p>
            <a:endParaRPr lang="en-IN" sz="3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dirty="0"/>
              <a:t>Overlapping bookings and lack of accountability can lead to overcrowding or conflicts.</a:t>
            </a:r>
          </a:p>
          <a:p>
            <a:endParaRPr lang="en-IN" sz="3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600" dirty="0"/>
              <a:t>Users spend a lot of time manually searching and comparing spaces, which is inefficient and frustrating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roup 15"/>
          <p:cNvGrpSpPr/>
          <p:nvPr/>
        </p:nvGrpSpPr>
        <p:grpSpPr>
          <a:xfrm>
            <a:off x="0" y="839520"/>
            <a:ext cx="5120280" cy="1037880"/>
            <a:chOff x="0" y="839520"/>
            <a:chExt cx="5120280" cy="1037880"/>
          </a:xfrm>
        </p:grpSpPr>
        <p:sp>
          <p:nvSpPr>
            <p:cNvPr id="463" name="object 82"/>
            <p:cNvSpPr/>
            <p:nvPr/>
          </p:nvSpPr>
          <p:spPr>
            <a:xfrm>
              <a:off x="0" y="839520"/>
              <a:ext cx="46839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64" name="object 83"/>
            <p:cNvSpPr/>
            <p:nvPr/>
          </p:nvSpPr>
          <p:spPr>
            <a:xfrm>
              <a:off x="4234320" y="839520"/>
              <a:ext cx="88596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65" name="object 84"/>
          <p:cNvSpPr/>
          <p:nvPr/>
        </p:nvSpPr>
        <p:spPr>
          <a:xfrm>
            <a:off x="114120" y="957600"/>
            <a:ext cx="4802760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44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Domain</a:t>
            </a:r>
            <a:endParaRPr lang="en-US" sz="4400" b="1" spc="-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6" name="object 85"/>
          <p:cNvSpPr/>
          <p:nvPr/>
        </p:nvSpPr>
        <p:spPr>
          <a:xfrm>
            <a:off x="452776" y="2221745"/>
            <a:ext cx="18104760" cy="84483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474663" indent="-67945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  <a:tabLst>
                <a:tab pos="179388" algn="l"/>
              </a:tabLst>
            </a:pPr>
            <a:r>
              <a:rPr lang="en-US" sz="2800" b="1" spc="-21" dirty="0">
                <a:solidFill>
                  <a:srgbClr val="000000"/>
                </a:solidFill>
                <a:latin typeface="Calibri"/>
              </a:rPr>
              <a:t>Application Domain</a:t>
            </a:r>
          </a:p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+mj-lt"/>
              <a:buAutoNum type="romanLcPeriod"/>
              <a:tabLst>
                <a:tab pos="179388" algn="l"/>
              </a:tabLs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Workspace Management &amp; Booking System (SaaS)</a:t>
            </a:r>
          </a:p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+mj-lt"/>
              <a:buAutoNum type="romanLcPeriod"/>
              <a:tabLst>
                <a:tab pos="179388" algn="l"/>
              </a:tabLs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Personalized Recommendations for Workspaces</a:t>
            </a:r>
          </a:p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+mj-lt"/>
              <a:buAutoNum type="romanLcPeriod"/>
              <a:tabLst>
                <a:tab pos="179388" algn="l"/>
              </a:tabLs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Booking &amp; Availability Tracking</a:t>
            </a:r>
          </a:p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+mj-lt"/>
              <a:buAutoNum type="romanLcPeriod"/>
              <a:tabLst>
                <a:tab pos="179388" algn="l"/>
              </a:tabLs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Engagement &amp; Accountability Management</a:t>
            </a:r>
          </a:p>
          <a:p>
            <a:pPr marL="474663" indent="-67945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2800" b="0" strike="noStrike" spc="-2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800" b="1" strike="noStrike" spc="-21" dirty="0">
                <a:solidFill>
                  <a:srgbClr val="000000"/>
                </a:solidFill>
                <a:latin typeface="Calibri"/>
                <a:ea typeface="DejaVu Sans"/>
              </a:rPr>
              <a:t>Technical Domain</a:t>
            </a:r>
          </a:p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+mj-lt"/>
              <a:buAutoNum type="romanLcPeriod"/>
            </a:pPr>
            <a:r>
              <a:rPr lang="en-US" sz="2800" spc="-21" dirty="0">
                <a:solidFill>
                  <a:srgbClr val="000000"/>
                </a:solidFill>
                <a:latin typeface="Calibri"/>
              </a:rPr>
              <a:t>Frontend: React.js, Tailwind CSS, React Router</a:t>
            </a:r>
          </a:p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+mj-lt"/>
              <a:buAutoNum type="romanLcPeriod"/>
            </a:pPr>
            <a:r>
              <a:rPr lang="en-US" sz="2800" b="1" spc="-21" dirty="0">
                <a:solidFill>
                  <a:srgbClr val="000000"/>
                </a:solidFill>
                <a:latin typeface="Calibri"/>
              </a:rPr>
              <a:t>Backend: </a:t>
            </a:r>
            <a:r>
              <a:rPr lang="en-US" sz="2800" spc="-21" dirty="0">
                <a:solidFill>
                  <a:srgbClr val="000000"/>
                </a:solidFill>
                <a:latin typeface="Calibri"/>
              </a:rPr>
              <a:t>Node.js, Express.js, JWT Authentication</a:t>
            </a:r>
          </a:p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+mj-lt"/>
              <a:buAutoNum type="romanLcPeriod"/>
            </a:pPr>
            <a:r>
              <a:rPr lang="en-US" sz="2800" b="1" spc="-21" dirty="0">
                <a:solidFill>
                  <a:srgbClr val="000000"/>
                </a:solidFill>
                <a:latin typeface="Calibri"/>
              </a:rPr>
              <a:t>Database:</a:t>
            </a:r>
            <a:r>
              <a:rPr lang="en-US" sz="2800" spc="-21" dirty="0">
                <a:solidFill>
                  <a:srgbClr val="000000"/>
                </a:solidFill>
                <a:latin typeface="Calibri"/>
              </a:rPr>
              <a:t> MongoDB (User Data, Bookings, Preferences)</a:t>
            </a:r>
          </a:p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+mj-lt"/>
              <a:buAutoNum type="romanLcPeriod"/>
            </a:pPr>
            <a:r>
              <a:rPr lang="en-US" sz="2800" b="1" spc="-21" dirty="0">
                <a:solidFill>
                  <a:srgbClr val="000000"/>
                </a:solidFill>
                <a:latin typeface="Calibri"/>
              </a:rPr>
              <a:t>AI/ML Integration: </a:t>
            </a:r>
            <a:r>
              <a:rPr lang="en-US" sz="2800" spc="-21" dirty="0">
                <a:solidFill>
                  <a:srgbClr val="000000"/>
                </a:solidFill>
                <a:latin typeface="Calibri"/>
              </a:rPr>
              <a:t>Python (scikit-</a:t>
            </a:r>
            <a:r>
              <a:rPr lang="en-US" sz="2800" spc="-21" dirty="0" err="1">
                <a:solidFill>
                  <a:srgbClr val="000000"/>
                </a:solidFill>
                <a:latin typeface="Calibri"/>
              </a:rPr>
              <a:t>learn,pandas,TextBlob</a:t>
            </a:r>
            <a:r>
              <a:rPr lang="en-US" sz="2800" spc="-21" dirty="0">
                <a:solidFill>
                  <a:srgbClr val="000000"/>
                </a:solidFill>
                <a:latin typeface="Calibri"/>
              </a:rPr>
              <a:t>) for recommendations &amp; sentiment analysis</a:t>
            </a:r>
          </a:p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+mj-lt"/>
              <a:buAutoNum type="romanLcPeriod"/>
            </a:pPr>
            <a:r>
              <a:rPr lang="en-US" sz="2800" b="1" spc="-21" dirty="0">
                <a:solidFill>
                  <a:srgbClr val="000000"/>
                </a:solidFill>
                <a:latin typeface="Calibri"/>
              </a:rPr>
              <a:t>Cloud &amp; Deployment:</a:t>
            </a:r>
            <a:r>
              <a:rPr lang="en-US" sz="2800" spc="-21" dirty="0">
                <a:solidFill>
                  <a:srgbClr val="000000"/>
                </a:solidFill>
                <a:latin typeface="Calibri"/>
              </a:rPr>
              <a:t> Cloud hosting (Heroku / AWS), Payment Gateway Integration (</a:t>
            </a:r>
            <a:r>
              <a:rPr lang="en-US" sz="2800" spc="-21" dirty="0" err="1">
                <a:solidFill>
                  <a:srgbClr val="000000"/>
                </a:solidFill>
                <a:latin typeface="Calibri"/>
              </a:rPr>
              <a:t>Razorpay</a:t>
            </a:r>
            <a:r>
              <a:rPr lang="en-US" sz="2800" spc="-21" dirty="0">
                <a:solidFill>
                  <a:srgbClr val="000000"/>
                </a:solidFill>
                <a:latin typeface="Calibri"/>
              </a:rPr>
              <a:t> / Stripe)</a:t>
            </a:r>
            <a:r>
              <a:rPr lang="en-US" sz="2800" strike="noStrike" spc="-2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</a:p>
          <a:p>
            <a:pPr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</a:pPr>
            <a:r>
              <a:rPr lang="en-US" sz="2800" b="1" strike="noStrike" spc="-1" dirty="0"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002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roup 3"/>
          <p:cNvGrpSpPr/>
          <p:nvPr/>
        </p:nvGrpSpPr>
        <p:grpSpPr>
          <a:xfrm>
            <a:off x="0" y="839520"/>
            <a:ext cx="7680600" cy="1037880"/>
            <a:chOff x="0" y="839520"/>
            <a:chExt cx="7680600" cy="1037880"/>
          </a:xfrm>
        </p:grpSpPr>
        <p:sp>
          <p:nvSpPr>
            <p:cNvPr id="478" name="object 22"/>
            <p:cNvSpPr/>
            <p:nvPr/>
          </p:nvSpPr>
          <p:spPr>
            <a:xfrm>
              <a:off x="0" y="839520"/>
              <a:ext cx="702612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9" name="object 25"/>
            <p:cNvSpPr/>
            <p:nvPr/>
          </p:nvSpPr>
          <p:spPr>
            <a:xfrm>
              <a:off x="6351480" y="839520"/>
              <a:ext cx="132912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80" name="object 26"/>
          <p:cNvSpPr/>
          <p:nvPr/>
        </p:nvSpPr>
        <p:spPr>
          <a:xfrm>
            <a:off x="171360" y="957600"/>
            <a:ext cx="7203960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Functionalities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481" name="object 27"/>
          <p:cNvSpPr/>
          <p:nvPr/>
        </p:nvSpPr>
        <p:spPr>
          <a:xfrm>
            <a:off x="418864" y="1437706"/>
            <a:ext cx="16527862" cy="84161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5040" rIns="0" bIns="0" anchor="t">
            <a:spAutoFit/>
          </a:bodyPr>
          <a:lstStyle/>
          <a:p>
            <a:pPr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</a:pPr>
            <a:endParaRPr lang="en-US" sz="360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95275" indent="-500063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1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Registration &amp; Login</a:t>
            </a:r>
            <a:r>
              <a:rPr lang="en-US" sz="36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</a:p>
          <a:p>
            <a:pPr marL="1028700" lvl="1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36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can create an account or log in securely to access the platform.</a:t>
            </a:r>
          </a:p>
          <a:p>
            <a:pPr marL="295275" indent="-500063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1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&amp; Filter Spaces </a:t>
            </a:r>
            <a:r>
              <a:rPr lang="en-US" sz="36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</a:p>
          <a:p>
            <a:pPr marL="1028700" lvl="1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36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coworking spaces by location, amenities, capacity, and budget.</a:t>
            </a:r>
          </a:p>
          <a:p>
            <a:pPr marL="295275" indent="-500063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1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Space Details </a:t>
            </a:r>
            <a:r>
              <a:rPr lang="en-US" sz="36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</a:p>
          <a:p>
            <a:pPr marL="1028700" lvl="1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36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photos, maps, reviews, and other details for informed decision-making.</a:t>
            </a:r>
          </a:p>
          <a:p>
            <a:pPr marL="295275" indent="-500063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1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&amp; Book Space </a:t>
            </a:r>
            <a:r>
              <a:rPr lang="en-US" sz="36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</a:p>
          <a:p>
            <a:pPr marL="1028700" lvl="1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3600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Choose desks, meeting rooms, or private offices and proceed with booking.</a:t>
            </a:r>
          </a:p>
          <a:p>
            <a:pPr marL="295275" indent="-500063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endParaRPr lang="en-US" sz="36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9771-5B28-D089-2B75-C625ECE5B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roup 3">
            <a:extLst>
              <a:ext uri="{FF2B5EF4-FFF2-40B4-BE49-F238E27FC236}">
                <a16:creationId xmlns:a16="http://schemas.microsoft.com/office/drawing/2014/main" id="{B4808395-77F3-332C-5AE3-4FC71F4688EC}"/>
              </a:ext>
            </a:extLst>
          </p:cNvPr>
          <p:cNvGrpSpPr/>
          <p:nvPr/>
        </p:nvGrpSpPr>
        <p:grpSpPr>
          <a:xfrm>
            <a:off x="0" y="839520"/>
            <a:ext cx="7680600" cy="1037880"/>
            <a:chOff x="0" y="839520"/>
            <a:chExt cx="7680600" cy="1037880"/>
          </a:xfrm>
        </p:grpSpPr>
        <p:sp>
          <p:nvSpPr>
            <p:cNvPr id="478" name="object 22">
              <a:extLst>
                <a:ext uri="{FF2B5EF4-FFF2-40B4-BE49-F238E27FC236}">
                  <a16:creationId xmlns:a16="http://schemas.microsoft.com/office/drawing/2014/main" id="{D6ACCBA1-E764-0932-8C71-40FD831ADCFE}"/>
                </a:ext>
              </a:extLst>
            </p:cNvPr>
            <p:cNvSpPr/>
            <p:nvPr/>
          </p:nvSpPr>
          <p:spPr>
            <a:xfrm>
              <a:off x="0" y="839520"/>
              <a:ext cx="702612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9" name="object 25">
              <a:extLst>
                <a:ext uri="{FF2B5EF4-FFF2-40B4-BE49-F238E27FC236}">
                  <a16:creationId xmlns:a16="http://schemas.microsoft.com/office/drawing/2014/main" id="{C5D54A75-0926-6642-0C94-6FC7846C6313}"/>
                </a:ext>
              </a:extLst>
            </p:cNvPr>
            <p:cNvSpPr/>
            <p:nvPr/>
          </p:nvSpPr>
          <p:spPr>
            <a:xfrm>
              <a:off x="6351480" y="839520"/>
              <a:ext cx="132912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80" name="object 26">
            <a:extLst>
              <a:ext uri="{FF2B5EF4-FFF2-40B4-BE49-F238E27FC236}">
                <a16:creationId xmlns:a16="http://schemas.microsoft.com/office/drawing/2014/main" id="{2C47EDE8-F56C-280B-3571-90EBB6053830}"/>
              </a:ext>
            </a:extLst>
          </p:cNvPr>
          <p:cNvSpPr/>
          <p:nvPr/>
        </p:nvSpPr>
        <p:spPr>
          <a:xfrm>
            <a:off x="171360" y="957600"/>
            <a:ext cx="7203960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Functionalities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481" name="object 27">
            <a:extLst>
              <a:ext uri="{FF2B5EF4-FFF2-40B4-BE49-F238E27FC236}">
                <a16:creationId xmlns:a16="http://schemas.microsoft.com/office/drawing/2014/main" id="{E41035D9-F81B-F55F-6270-D2BBD9358D46}"/>
              </a:ext>
            </a:extLst>
          </p:cNvPr>
          <p:cNvSpPr/>
          <p:nvPr/>
        </p:nvSpPr>
        <p:spPr>
          <a:xfrm>
            <a:off x="550747" y="2432958"/>
            <a:ext cx="16640906" cy="75482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5040" rIns="0" bIns="0" anchor="t">
            <a:spAutoFit/>
          </a:bodyPr>
          <a:lstStyle/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1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Booking Agreement Generation</a:t>
            </a: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</a:p>
          <a:p>
            <a:pPr marL="1028700" lvl="1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generate a formal agreement containing space and team details.</a:t>
            </a: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3600" b="1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Integration </a:t>
            </a: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</a:p>
          <a:p>
            <a:pPr marL="1028700" lvl="1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booking securely using payment gateways like </a:t>
            </a:r>
            <a:r>
              <a:rPr lang="en-US" sz="3600" spc="-2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Razorpay</a:t>
            </a: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Stripe.</a:t>
            </a: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1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AI/ML Recommendations </a:t>
            </a: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</a:p>
          <a:p>
            <a:pPr marL="1028700" lvl="1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 personalized suggestions for optimal spaces based on past behavior.</a:t>
            </a: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1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Booking Confirmation &amp; Notifications</a:t>
            </a: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</a:p>
          <a:p>
            <a:pPr marL="1028700" lvl="1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Wingdings" panose="05000000000000000000" pitchFamily="2" charset="2"/>
              <a:buChar char="ü"/>
            </a:pPr>
            <a:r>
              <a:rPr lang="en-US" sz="3600" spc="-2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instant confirmation with email/push notifications.</a:t>
            </a: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endParaRPr lang="en-US" sz="3600" strike="noStrike" spc="-2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20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roup 8"/>
          <p:cNvGrpSpPr/>
          <p:nvPr/>
        </p:nvGrpSpPr>
        <p:grpSpPr>
          <a:xfrm>
            <a:off x="0" y="839520"/>
            <a:ext cx="5303160" cy="1037880"/>
            <a:chOff x="0" y="839520"/>
            <a:chExt cx="5303160" cy="1037880"/>
          </a:xfrm>
        </p:grpSpPr>
        <p:sp>
          <p:nvSpPr>
            <p:cNvPr id="509" name="object 42"/>
            <p:cNvSpPr/>
            <p:nvPr/>
          </p:nvSpPr>
          <p:spPr>
            <a:xfrm>
              <a:off x="0" y="839520"/>
              <a:ext cx="48513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0" name="object 43"/>
            <p:cNvSpPr/>
            <p:nvPr/>
          </p:nvSpPr>
          <p:spPr>
            <a:xfrm>
              <a:off x="4385520" y="839520"/>
              <a:ext cx="91764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1" name="object 44"/>
          <p:cNvSpPr/>
          <p:nvPr/>
        </p:nvSpPr>
        <p:spPr>
          <a:xfrm>
            <a:off x="171360" y="957600"/>
            <a:ext cx="7203960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</a:t>
            </a:r>
            <a:endParaRPr lang="en-US" sz="44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12" name="Table 2"/>
          <p:cNvGraphicFramePr/>
          <p:nvPr>
            <p:extLst>
              <p:ext uri="{D42A27DB-BD31-4B8C-83A1-F6EECF244321}">
                <p14:modId xmlns:p14="http://schemas.microsoft.com/office/powerpoint/2010/main" val="1404108190"/>
              </p:ext>
            </p:extLst>
          </p:nvPr>
        </p:nvGraphicFramePr>
        <p:xfrm>
          <a:off x="661182" y="1995480"/>
          <a:ext cx="16046640" cy="3299760"/>
        </p:xfrm>
        <a:graphic>
          <a:graphicData uri="http://schemas.openxmlformats.org/drawingml/2006/table">
            <a:tbl>
              <a:tblPr/>
              <a:tblGrid>
                <a:gridCol w="574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0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Hardware Specifications</a:t>
                      </a:r>
                      <a:endParaRPr lang="en-US" sz="2400" b="1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Development Environment</a:t>
                      </a:r>
                      <a:endParaRPr lang="en-US" sz="2400" b="1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Deployment Environment</a:t>
                      </a:r>
                      <a:endParaRPr lang="en-US" sz="2400" b="1" strike="noStrike" spc="-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Client Environment</a:t>
                      </a:r>
                      <a:endParaRPr lang="en-US" sz="2400" b="1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576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Standard Laptop/PC minimum or higher:</a:t>
                      </a: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8–16 GB RAM</a:t>
                      </a: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Intel i5/i7 or AMD Ryzen</a:t>
                      </a: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500 GB+ Storage</a:t>
                      </a:r>
                      <a:endParaRPr lang="en-US" sz="16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Docker &amp; Kubernetes Cluster (Cloud) </a:t>
                      </a:r>
                      <a:b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AWS/GCP/Azure VM </a:t>
                      </a:r>
                      <a:b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16–32 GB RAM </a:t>
                      </a:r>
                      <a:b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Multi-core CPUs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Android/iOS Devices for testing </a:t>
                      </a:r>
                      <a:b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Android 10+ smartphones </a:t>
                      </a:r>
                      <a:b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• iOS 14+ devices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13" name="Table 1"/>
          <p:cNvGraphicFramePr/>
          <p:nvPr>
            <p:extLst>
              <p:ext uri="{D42A27DB-BD31-4B8C-83A1-F6EECF244321}">
                <p14:modId xmlns:p14="http://schemas.microsoft.com/office/powerpoint/2010/main" val="2383883485"/>
              </p:ext>
            </p:extLst>
          </p:nvPr>
        </p:nvGraphicFramePr>
        <p:xfrm>
          <a:off x="661182" y="5413320"/>
          <a:ext cx="16046640" cy="4291920"/>
        </p:xfrm>
        <a:graphic>
          <a:graphicData uri="http://schemas.openxmlformats.org/drawingml/2006/table">
            <a:tbl>
              <a:tblPr/>
              <a:tblGrid>
                <a:gridCol w="574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48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Software Specifications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Development Environment</a:t>
                      </a:r>
                      <a:endParaRPr lang="en-US" sz="2400" b="1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Deployment Environment</a:t>
                      </a:r>
                      <a:endParaRPr lang="en-US" sz="2400" b="1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Client Environment</a:t>
                      </a:r>
                      <a:endParaRPr lang="en-US" sz="2400" b="1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/>
                        <a:t>Frontend:</a:t>
                      </a:r>
                      <a:r>
                        <a:rPr lang="en-US" sz="1800" dirty="0"/>
                        <a:t> React.js(</a:t>
                      </a:r>
                      <a:r>
                        <a:rPr lang="en-IN" b="0" dirty="0"/>
                        <a:t>19.1</a:t>
                      </a:r>
                      <a:r>
                        <a:rPr lang="en-US" sz="1800" dirty="0"/>
                        <a:t>), Tailwind CSS(</a:t>
                      </a:r>
                      <a:r>
                        <a:rPr lang="en-IN" b="0" dirty="0"/>
                        <a:t>4.1.13</a:t>
                      </a:r>
                      <a:r>
                        <a:rPr lang="en-US" sz="1800" dirty="0"/>
                        <a:t>), React Router(</a:t>
                      </a:r>
                      <a:r>
                        <a:rPr lang="en-IN" b="0" dirty="0"/>
                        <a:t>7.9.1</a:t>
                      </a:r>
                      <a:r>
                        <a:rPr lang="en-US" sz="1800" dirty="0"/>
                        <a:t>)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800" b="1" dirty="0"/>
                        <a:t>Backend:</a:t>
                      </a:r>
                      <a:r>
                        <a:rPr lang="en-US" sz="1800" dirty="0"/>
                        <a:t> Node.js(</a:t>
                      </a:r>
                      <a:r>
                        <a:rPr lang="en-IN" b="0" dirty="0"/>
                        <a:t>22.19.0</a:t>
                      </a:r>
                      <a:r>
                        <a:rPr lang="en-US" sz="1800" dirty="0"/>
                        <a:t>), Express.js(</a:t>
                      </a:r>
                      <a:r>
                        <a:rPr lang="en-IN" b="0" dirty="0"/>
                        <a:t>5.1.0</a:t>
                      </a:r>
                      <a:r>
                        <a:rPr lang="en-US" sz="1800" dirty="0"/>
                        <a:t>), JWT Authentication</a:t>
                      </a:r>
                    </a:p>
                    <a:p>
                      <a:r>
                        <a:rPr lang="en-US" sz="1800" b="1" dirty="0"/>
                        <a:t>Database:</a:t>
                      </a:r>
                      <a:r>
                        <a:rPr lang="en-US" sz="1800" dirty="0"/>
                        <a:t> MongoDB(</a:t>
                      </a:r>
                      <a:r>
                        <a:rPr lang="en-IN" b="0" dirty="0"/>
                        <a:t>8.2.0</a:t>
                      </a:r>
                      <a:r>
                        <a:rPr lang="en-US" sz="1800" dirty="0"/>
                        <a:t>)</a:t>
                      </a:r>
                    </a:p>
                    <a:p>
                      <a:r>
                        <a:rPr lang="en-US" sz="1800" b="1" dirty="0"/>
                        <a:t>AI Layer:</a:t>
                      </a:r>
                      <a:r>
                        <a:rPr lang="en-US" sz="1800" dirty="0"/>
                        <a:t> Python libraries (scikit-learn, pandas, </a:t>
                      </a:r>
                      <a:r>
                        <a:rPr lang="en-US" sz="1800" dirty="0" err="1"/>
                        <a:t>TextBlob</a:t>
                      </a:r>
                      <a:r>
                        <a:rPr lang="en-US" sz="1800" dirty="0"/>
                        <a:t>) for personalized recommendations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IN" b="1" dirty="0"/>
                        <a:t>SDKs/Tools</a:t>
                      </a:r>
                      <a:r>
                        <a:rPr lang="en-IN" dirty="0"/>
                        <a:t>: Node Package Manager(</a:t>
                      </a:r>
                      <a:r>
                        <a:rPr lang="en-IN" b="0" dirty="0"/>
                        <a:t>11.6.0</a:t>
                      </a:r>
                      <a:r>
                        <a:rPr lang="en-IN" dirty="0"/>
                        <a:t>) GitHub Desktop(</a:t>
                      </a:r>
                      <a:r>
                        <a:rPr lang="en-IN" b="0" dirty="0"/>
                        <a:t>3.5.2</a:t>
                      </a:r>
                      <a:r>
                        <a:rPr lang="en-IN" dirty="0"/>
                        <a:t>)</a:t>
                      </a:r>
                    </a:p>
                    <a:p>
                      <a:r>
                        <a:rPr lang="en-US" b="1" dirty="0"/>
                        <a:t>Other Tools</a:t>
                      </a:r>
                      <a:r>
                        <a:rPr lang="en-US" dirty="0"/>
                        <a:t>: Docker(</a:t>
                      </a:r>
                      <a:r>
                        <a:rPr lang="en-IN" b="0" dirty="0"/>
                        <a:t>4.44.3</a:t>
                      </a:r>
                      <a:r>
                        <a:rPr lang="en-US" dirty="0"/>
                        <a:t>), GitHub Actions (CI/CD), Postman</a:t>
                      </a:r>
                      <a:endParaRPr lang="en-US" sz="1800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Cloud Hosting on AWS/GCP(latest)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Containerized builds via Docker 26.x, Kubernetes 3.1+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CI/CD pipeline with GitHub Actions(latest)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Browser-based Web App (React.js) - Chrome 140+, Safari 18+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Secure authentication using </a:t>
                      </a:r>
                      <a:r>
                        <a:rPr lang="en-US" sz="1800" dirty="0" err="1"/>
                        <a:t>FirebaseAuth</a:t>
                      </a:r>
                      <a:r>
                        <a:rPr lang="en-US" sz="1800" dirty="0"/>
                        <a:t> or JWT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v11+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973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EA012-A921-8FD6-8D53-B1146B07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roup 3">
            <a:extLst>
              <a:ext uri="{FF2B5EF4-FFF2-40B4-BE49-F238E27FC236}">
                <a16:creationId xmlns:a16="http://schemas.microsoft.com/office/drawing/2014/main" id="{AE4A2862-34EB-3EC2-5A24-E87BCC41A149}"/>
              </a:ext>
            </a:extLst>
          </p:cNvPr>
          <p:cNvGrpSpPr/>
          <p:nvPr/>
        </p:nvGrpSpPr>
        <p:grpSpPr>
          <a:xfrm>
            <a:off x="0" y="839520"/>
            <a:ext cx="7680600" cy="1037880"/>
            <a:chOff x="0" y="839520"/>
            <a:chExt cx="7680600" cy="1037880"/>
          </a:xfrm>
        </p:grpSpPr>
        <p:sp>
          <p:nvSpPr>
            <p:cNvPr id="478" name="object 22">
              <a:extLst>
                <a:ext uri="{FF2B5EF4-FFF2-40B4-BE49-F238E27FC236}">
                  <a16:creationId xmlns:a16="http://schemas.microsoft.com/office/drawing/2014/main" id="{5D7BEE26-520F-C398-B285-663AF713AB13}"/>
                </a:ext>
              </a:extLst>
            </p:cNvPr>
            <p:cNvSpPr/>
            <p:nvPr/>
          </p:nvSpPr>
          <p:spPr>
            <a:xfrm>
              <a:off x="0" y="839520"/>
              <a:ext cx="702612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9" name="object 25">
              <a:extLst>
                <a:ext uri="{FF2B5EF4-FFF2-40B4-BE49-F238E27FC236}">
                  <a16:creationId xmlns:a16="http://schemas.microsoft.com/office/drawing/2014/main" id="{269CCFD8-E4AE-49F6-94B4-C6B41424F11A}"/>
                </a:ext>
              </a:extLst>
            </p:cNvPr>
            <p:cNvSpPr/>
            <p:nvPr/>
          </p:nvSpPr>
          <p:spPr>
            <a:xfrm>
              <a:off x="6351480" y="839520"/>
              <a:ext cx="132912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80" name="object 26">
            <a:extLst>
              <a:ext uri="{FF2B5EF4-FFF2-40B4-BE49-F238E27FC236}">
                <a16:creationId xmlns:a16="http://schemas.microsoft.com/office/drawing/2014/main" id="{2BF70916-6971-4051-1BF4-3AEC23BCA24D}"/>
              </a:ext>
            </a:extLst>
          </p:cNvPr>
          <p:cNvSpPr/>
          <p:nvPr/>
        </p:nvSpPr>
        <p:spPr>
          <a:xfrm>
            <a:off x="171360" y="957600"/>
            <a:ext cx="7203960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</a:pPr>
            <a:r>
              <a:rPr lang="en-US" sz="4400" b="1" spc="-1" dirty="0">
                <a:solidFill>
                  <a:srgbClr val="FFFFFF"/>
                </a:solidFill>
                <a:latin typeface="Calibri"/>
              </a:rPr>
              <a:t>Application in the Real World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481" name="object 27">
            <a:extLst>
              <a:ext uri="{FF2B5EF4-FFF2-40B4-BE49-F238E27FC236}">
                <a16:creationId xmlns:a16="http://schemas.microsoft.com/office/drawing/2014/main" id="{D3B18D50-9BB4-E331-7ABF-FE958A2D67D2}"/>
              </a:ext>
            </a:extLst>
          </p:cNvPr>
          <p:cNvSpPr/>
          <p:nvPr/>
        </p:nvSpPr>
        <p:spPr>
          <a:xfrm>
            <a:off x="452776" y="2706235"/>
            <a:ext cx="16043746" cy="620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5040" rIns="0" bIns="0" anchor="t">
            <a:spAutoFit/>
          </a:bodyPr>
          <a:lstStyle/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Our platform enables users to find and book co-working spaces quickly and efficiently, similar to popular apps like WeWork, Regus, and </a:t>
            </a:r>
            <a:r>
              <a:rPr lang="en-US" sz="3200" dirty="0" err="1"/>
              <a:t>Deskpass</a:t>
            </a:r>
            <a:r>
              <a:rPr lang="en-US" sz="3200" dirty="0"/>
              <a:t>. It bridges the gap between space owners and users, streamlining the entire booking process.</a:t>
            </a:r>
          </a:p>
          <a:p>
            <a:pPr marL="571500" indent="-571500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dirty="0" err="1"/>
              <a:t>Entrepreneurs&amp;Startups</a:t>
            </a:r>
            <a:r>
              <a:rPr lang="en-US" sz="3200" b="1" dirty="0"/>
              <a:t>:-</a:t>
            </a:r>
          </a:p>
          <a:p>
            <a:pPr marL="571500" indent="-571500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200" b="1" dirty="0"/>
              <a:t>Enterprise Office Management:-</a:t>
            </a:r>
          </a:p>
          <a:p>
            <a:pPr marL="571500" indent="-571500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3200" b="1" dirty="0"/>
              <a:t>Freelancers &amp; Remote Workers:-</a:t>
            </a:r>
            <a:br>
              <a:rPr lang="en-IN" sz="3200" dirty="0"/>
            </a:br>
            <a:endParaRPr lang="en-US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725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3791-8DDD-A8F2-C372-D1D077C36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roup 3">
            <a:extLst>
              <a:ext uri="{FF2B5EF4-FFF2-40B4-BE49-F238E27FC236}">
                <a16:creationId xmlns:a16="http://schemas.microsoft.com/office/drawing/2014/main" id="{7741B62C-59CB-37F0-212E-8CF39D61D701}"/>
              </a:ext>
            </a:extLst>
          </p:cNvPr>
          <p:cNvGrpSpPr/>
          <p:nvPr/>
        </p:nvGrpSpPr>
        <p:grpSpPr>
          <a:xfrm>
            <a:off x="0" y="839520"/>
            <a:ext cx="7680600" cy="1037880"/>
            <a:chOff x="0" y="839520"/>
            <a:chExt cx="7680600" cy="1037880"/>
          </a:xfrm>
        </p:grpSpPr>
        <p:sp>
          <p:nvSpPr>
            <p:cNvPr id="478" name="object 22">
              <a:extLst>
                <a:ext uri="{FF2B5EF4-FFF2-40B4-BE49-F238E27FC236}">
                  <a16:creationId xmlns:a16="http://schemas.microsoft.com/office/drawing/2014/main" id="{D369205F-1AF9-1D9A-9039-CCDF4F4064F1}"/>
                </a:ext>
              </a:extLst>
            </p:cNvPr>
            <p:cNvSpPr/>
            <p:nvPr/>
          </p:nvSpPr>
          <p:spPr>
            <a:xfrm>
              <a:off x="0" y="839520"/>
              <a:ext cx="702612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9" name="object 25">
              <a:extLst>
                <a:ext uri="{FF2B5EF4-FFF2-40B4-BE49-F238E27FC236}">
                  <a16:creationId xmlns:a16="http://schemas.microsoft.com/office/drawing/2014/main" id="{69C1536B-D9EA-03A0-58EB-F32A119EC62F}"/>
                </a:ext>
              </a:extLst>
            </p:cNvPr>
            <p:cNvSpPr/>
            <p:nvPr/>
          </p:nvSpPr>
          <p:spPr>
            <a:xfrm>
              <a:off x="6351480" y="839520"/>
              <a:ext cx="132912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80" name="object 26">
            <a:extLst>
              <a:ext uri="{FF2B5EF4-FFF2-40B4-BE49-F238E27FC236}">
                <a16:creationId xmlns:a16="http://schemas.microsoft.com/office/drawing/2014/main" id="{B0C4B0C2-AB00-BCD2-7238-1139C1914FD3}"/>
              </a:ext>
            </a:extLst>
          </p:cNvPr>
          <p:cNvSpPr/>
          <p:nvPr/>
        </p:nvSpPr>
        <p:spPr>
          <a:xfrm>
            <a:off x="171360" y="957600"/>
            <a:ext cx="7203960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</a:pPr>
            <a:r>
              <a:rPr lang="en-US" sz="4400" b="1" spc="-1" dirty="0">
                <a:solidFill>
                  <a:srgbClr val="FFFFFF"/>
                </a:solidFill>
                <a:latin typeface="Calibri"/>
              </a:rPr>
              <a:t>Application in the Real World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481" name="object 27">
            <a:extLst>
              <a:ext uri="{FF2B5EF4-FFF2-40B4-BE49-F238E27FC236}">
                <a16:creationId xmlns:a16="http://schemas.microsoft.com/office/drawing/2014/main" id="{979557D6-0771-E402-3A13-9CB4D32AAA09}"/>
              </a:ext>
            </a:extLst>
          </p:cNvPr>
          <p:cNvSpPr/>
          <p:nvPr/>
        </p:nvSpPr>
        <p:spPr>
          <a:xfrm>
            <a:off x="452776" y="2795953"/>
            <a:ext cx="18104760" cy="29777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571500" indent="-5715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3600" b="1" dirty="0"/>
              <a:t>Education &amp; Training</a:t>
            </a:r>
            <a:endParaRPr lang="en-US" sz="3600" b="1" spc="-21" dirty="0">
              <a:solidFill>
                <a:srgbClr val="000000"/>
              </a:solidFill>
              <a:latin typeface="Calibri"/>
            </a:endParaRPr>
          </a:p>
          <a:p>
            <a:pPr marL="204788" indent="-409575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endParaRPr lang="en-US" sz="3600" b="0" strike="noStrike" spc="-21" dirty="0">
              <a:solidFill>
                <a:srgbClr val="000000"/>
              </a:solidFill>
              <a:latin typeface="Calibri"/>
              <a:ea typeface="Noto Sans CJK SC"/>
            </a:endParaRPr>
          </a:p>
          <a:p>
            <a:pPr marL="571500" indent="-571500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IN" sz="3600" b="1" dirty="0"/>
              <a:t>Consulting &amp; Real Estate Services</a:t>
            </a:r>
            <a:br>
              <a:rPr lang="en-IN" sz="3600" dirty="0"/>
            </a:br>
            <a:endParaRPr lang="en-US" sz="3600" b="1" strike="noStrike" spc="-21" dirty="0">
              <a:solidFill>
                <a:srgbClr val="000000"/>
              </a:solidFill>
              <a:latin typeface="Calibri"/>
              <a:ea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77950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roup 5"/>
          <p:cNvGrpSpPr/>
          <p:nvPr/>
        </p:nvGrpSpPr>
        <p:grpSpPr>
          <a:xfrm>
            <a:off x="-1" y="839520"/>
            <a:ext cx="10253273" cy="1037880"/>
            <a:chOff x="0" y="839520"/>
            <a:chExt cx="5303160" cy="1037880"/>
          </a:xfrm>
        </p:grpSpPr>
        <p:sp>
          <p:nvSpPr>
            <p:cNvPr id="483" name="object 32"/>
            <p:cNvSpPr/>
            <p:nvPr/>
          </p:nvSpPr>
          <p:spPr>
            <a:xfrm>
              <a:off x="0" y="839520"/>
              <a:ext cx="48513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84" name="object 33"/>
            <p:cNvSpPr/>
            <p:nvPr/>
          </p:nvSpPr>
          <p:spPr>
            <a:xfrm>
              <a:off x="4385520" y="839520"/>
              <a:ext cx="91764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85" name="object 34"/>
          <p:cNvSpPr/>
          <p:nvPr/>
        </p:nvSpPr>
        <p:spPr>
          <a:xfrm>
            <a:off x="171360" y="957600"/>
            <a:ext cx="9459204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pc="-1" dirty="0">
                <a:solidFill>
                  <a:srgbClr val="FFFFFF"/>
                </a:solidFill>
                <a:latin typeface="Calibri"/>
              </a:rPr>
              <a:t>Next Slides are for next presentations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486" name="object 35"/>
          <p:cNvSpPr/>
          <p:nvPr/>
        </p:nvSpPr>
        <p:spPr>
          <a:xfrm>
            <a:off x="365760" y="2743200"/>
            <a:ext cx="18104760" cy="656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roup 1"/>
          <p:cNvGrpSpPr/>
          <p:nvPr/>
        </p:nvGrpSpPr>
        <p:grpSpPr>
          <a:xfrm>
            <a:off x="0" y="839520"/>
            <a:ext cx="5120280" cy="1037880"/>
            <a:chOff x="0" y="839520"/>
            <a:chExt cx="5120280" cy="1037880"/>
          </a:xfrm>
        </p:grpSpPr>
        <p:sp>
          <p:nvSpPr>
            <p:cNvPr id="468" name="object 11"/>
            <p:cNvSpPr/>
            <p:nvPr/>
          </p:nvSpPr>
          <p:spPr>
            <a:xfrm>
              <a:off x="0" y="839520"/>
              <a:ext cx="46839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69" name="object 13"/>
            <p:cNvSpPr/>
            <p:nvPr/>
          </p:nvSpPr>
          <p:spPr>
            <a:xfrm>
              <a:off x="4234320" y="839520"/>
              <a:ext cx="88596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70" name="object 14"/>
          <p:cNvSpPr/>
          <p:nvPr/>
        </p:nvSpPr>
        <p:spPr>
          <a:xfrm>
            <a:off x="114120" y="957600"/>
            <a:ext cx="48027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DejaVu Sans"/>
              </a:rPr>
              <a:t>Project Objectives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71" name="object 15"/>
          <p:cNvSpPr/>
          <p:nvPr/>
        </p:nvSpPr>
        <p:spPr>
          <a:xfrm>
            <a:off x="365760" y="2743200"/>
            <a:ext cx="18104760" cy="656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The system should be able to</a:t>
            </a:r>
            <a:endParaRPr lang="en-US" sz="3600" b="0" strike="noStrike" spc="-1">
              <a:latin typeface="Arial"/>
            </a:endParaRPr>
          </a:p>
          <a:p>
            <a:pPr marL="12600" lvl="2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lvl="2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lvl="2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lvl="2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lvl="2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lvl="2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lvl="2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919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roup 2"/>
          <p:cNvGrpSpPr/>
          <p:nvPr/>
        </p:nvGrpSpPr>
        <p:grpSpPr>
          <a:xfrm>
            <a:off x="0" y="839520"/>
            <a:ext cx="5120280" cy="1037880"/>
            <a:chOff x="0" y="839520"/>
            <a:chExt cx="5120280" cy="1037880"/>
          </a:xfrm>
        </p:grpSpPr>
        <p:sp>
          <p:nvSpPr>
            <p:cNvPr id="473" name="object 16"/>
            <p:cNvSpPr/>
            <p:nvPr/>
          </p:nvSpPr>
          <p:spPr>
            <a:xfrm>
              <a:off x="0" y="839520"/>
              <a:ext cx="46839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4" name="object 17"/>
            <p:cNvSpPr/>
            <p:nvPr/>
          </p:nvSpPr>
          <p:spPr>
            <a:xfrm>
              <a:off x="4234320" y="839520"/>
              <a:ext cx="88596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75" name="object 20"/>
          <p:cNvSpPr/>
          <p:nvPr/>
        </p:nvSpPr>
        <p:spPr>
          <a:xfrm>
            <a:off x="114120" y="957600"/>
            <a:ext cx="4802760" cy="6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DejaVu Sans"/>
              </a:rPr>
              <a:t>Project Scope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76" name="object 21"/>
          <p:cNvSpPr/>
          <p:nvPr/>
        </p:nvSpPr>
        <p:spPr>
          <a:xfrm>
            <a:off x="365760" y="2743200"/>
            <a:ext cx="18104760" cy="66767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269875" indent="-2159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 dirty="0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 dirty="0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 dirty="0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 dirty="0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 dirty="0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 dirty="0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 dirty="0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 dirty="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132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roup 4"/>
          <p:cNvGrpSpPr/>
          <p:nvPr/>
        </p:nvGrpSpPr>
        <p:grpSpPr>
          <a:xfrm>
            <a:off x="0" y="839520"/>
            <a:ext cx="5303160" cy="1037880"/>
            <a:chOff x="0" y="839520"/>
            <a:chExt cx="5303160" cy="1037880"/>
          </a:xfrm>
        </p:grpSpPr>
        <p:sp>
          <p:nvSpPr>
            <p:cNvPr id="488" name="object 28"/>
            <p:cNvSpPr/>
            <p:nvPr/>
          </p:nvSpPr>
          <p:spPr>
            <a:xfrm>
              <a:off x="0" y="839520"/>
              <a:ext cx="48513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489" name="object 29"/>
            <p:cNvSpPr/>
            <p:nvPr/>
          </p:nvSpPr>
          <p:spPr>
            <a:xfrm>
              <a:off x="4385520" y="839520"/>
              <a:ext cx="91764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 dirty="0"/>
            </a:p>
          </p:txBody>
        </p:sp>
      </p:grpSp>
      <p:sp>
        <p:nvSpPr>
          <p:cNvPr id="490" name="object 30"/>
          <p:cNvSpPr/>
          <p:nvPr/>
        </p:nvSpPr>
        <p:spPr>
          <a:xfrm>
            <a:off x="171360" y="957600"/>
            <a:ext cx="720396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DejaVu Sans"/>
              </a:rPr>
              <a:t>Literature Survey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91" name="object 31"/>
          <p:cNvSpPr/>
          <p:nvPr/>
        </p:nvSpPr>
        <p:spPr>
          <a:xfrm>
            <a:off x="365760" y="2743200"/>
            <a:ext cx="18104760" cy="656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2" name="object 36"/>
          <p:cNvSpPr/>
          <p:nvPr/>
        </p:nvSpPr>
        <p:spPr>
          <a:xfrm>
            <a:off x="0" y="1849320"/>
            <a:ext cx="3565800" cy="588960"/>
          </a:xfrm>
          <a:custGeom>
            <a:avLst/>
            <a:gdLst/>
            <a:ahLst/>
            <a:cxnLst/>
            <a:rect l="l" t="t" r="r" b="b"/>
            <a:pathLst>
              <a:path w="1909445" h="437514">
                <a:moveTo>
                  <a:pt x="1690241" y="0"/>
                </a:moveTo>
                <a:lnTo>
                  <a:pt x="0" y="0"/>
                </a:lnTo>
                <a:lnTo>
                  <a:pt x="0" y="437154"/>
                </a:lnTo>
                <a:lnTo>
                  <a:pt x="1690241" y="437154"/>
                </a:lnTo>
                <a:lnTo>
                  <a:pt x="1740359" y="431381"/>
                </a:lnTo>
                <a:lnTo>
                  <a:pt x="1786366" y="414937"/>
                </a:lnTo>
                <a:lnTo>
                  <a:pt x="1826950" y="389135"/>
                </a:lnTo>
                <a:lnTo>
                  <a:pt x="1860800" y="355285"/>
                </a:lnTo>
                <a:lnTo>
                  <a:pt x="1886602" y="314701"/>
                </a:lnTo>
                <a:lnTo>
                  <a:pt x="1903046" y="268694"/>
                </a:lnTo>
                <a:lnTo>
                  <a:pt x="1908818" y="218577"/>
                </a:lnTo>
                <a:lnTo>
                  <a:pt x="1903046" y="168459"/>
                </a:lnTo>
                <a:lnTo>
                  <a:pt x="1886602" y="122452"/>
                </a:lnTo>
                <a:lnTo>
                  <a:pt x="1860800" y="81868"/>
                </a:lnTo>
                <a:lnTo>
                  <a:pt x="1826950" y="48018"/>
                </a:lnTo>
                <a:lnTo>
                  <a:pt x="1786366" y="22216"/>
                </a:lnTo>
                <a:lnTo>
                  <a:pt x="1740359" y="5772"/>
                </a:lnTo>
                <a:lnTo>
                  <a:pt x="1690241" y="0"/>
                </a:lnTo>
                <a:close/>
              </a:path>
            </a:pathLst>
          </a:custGeom>
          <a:solidFill>
            <a:srgbClr val="FFA00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3" name="object 37"/>
          <p:cNvSpPr/>
          <p:nvPr/>
        </p:nvSpPr>
        <p:spPr>
          <a:xfrm>
            <a:off x="154080" y="1779480"/>
            <a:ext cx="3199680" cy="56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ctr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1" strike="noStrike" spc="1">
                <a:solidFill>
                  <a:srgbClr val="FFFFFF"/>
                </a:solidFill>
                <a:latin typeface="Calibri"/>
                <a:ea typeface="DejaVu Sans"/>
              </a:rPr>
              <a:t>Existing Systems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roup 11"/>
          <p:cNvGrpSpPr/>
          <p:nvPr/>
        </p:nvGrpSpPr>
        <p:grpSpPr>
          <a:xfrm>
            <a:off x="0" y="839520"/>
            <a:ext cx="5303160" cy="1037880"/>
            <a:chOff x="0" y="839520"/>
            <a:chExt cx="5303160" cy="1037880"/>
          </a:xfrm>
        </p:grpSpPr>
        <p:sp>
          <p:nvSpPr>
            <p:cNvPr id="495" name="object 57"/>
            <p:cNvSpPr/>
            <p:nvPr/>
          </p:nvSpPr>
          <p:spPr>
            <a:xfrm>
              <a:off x="0" y="839520"/>
              <a:ext cx="48513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96" name="object 58"/>
            <p:cNvSpPr/>
            <p:nvPr/>
          </p:nvSpPr>
          <p:spPr>
            <a:xfrm>
              <a:off x="4385520" y="839520"/>
              <a:ext cx="91764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97" name="object 59"/>
          <p:cNvSpPr/>
          <p:nvPr/>
        </p:nvSpPr>
        <p:spPr>
          <a:xfrm>
            <a:off x="171360" y="957600"/>
            <a:ext cx="720396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DejaVu Sans"/>
              </a:rPr>
              <a:t>Literature Survey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98" name="object 61"/>
          <p:cNvSpPr/>
          <p:nvPr/>
        </p:nvSpPr>
        <p:spPr>
          <a:xfrm>
            <a:off x="0" y="1849320"/>
            <a:ext cx="3565800" cy="588960"/>
          </a:xfrm>
          <a:custGeom>
            <a:avLst/>
            <a:gdLst/>
            <a:ahLst/>
            <a:cxnLst/>
            <a:rect l="l" t="t" r="r" b="b"/>
            <a:pathLst>
              <a:path w="1909445" h="437514">
                <a:moveTo>
                  <a:pt x="1690241" y="0"/>
                </a:moveTo>
                <a:lnTo>
                  <a:pt x="0" y="0"/>
                </a:lnTo>
                <a:lnTo>
                  <a:pt x="0" y="437154"/>
                </a:lnTo>
                <a:lnTo>
                  <a:pt x="1690241" y="437154"/>
                </a:lnTo>
                <a:lnTo>
                  <a:pt x="1740359" y="431381"/>
                </a:lnTo>
                <a:lnTo>
                  <a:pt x="1786366" y="414937"/>
                </a:lnTo>
                <a:lnTo>
                  <a:pt x="1826950" y="389135"/>
                </a:lnTo>
                <a:lnTo>
                  <a:pt x="1860800" y="355285"/>
                </a:lnTo>
                <a:lnTo>
                  <a:pt x="1886602" y="314701"/>
                </a:lnTo>
                <a:lnTo>
                  <a:pt x="1903046" y="268694"/>
                </a:lnTo>
                <a:lnTo>
                  <a:pt x="1908818" y="218577"/>
                </a:lnTo>
                <a:lnTo>
                  <a:pt x="1903046" y="168459"/>
                </a:lnTo>
                <a:lnTo>
                  <a:pt x="1886602" y="122452"/>
                </a:lnTo>
                <a:lnTo>
                  <a:pt x="1860800" y="81868"/>
                </a:lnTo>
                <a:lnTo>
                  <a:pt x="1826950" y="48018"/>
                </a:lnTo>
                <a:lnTo>
                  <a:pt x="1786366" y="22216"/>
                </a:lnTo>
                <a:lnTo>
                  <a:pt x="1740359" y="5772"/>
                </a:lnTo>
                <a:lnTo>
                  <a:pt x="1690241" y="0"/>
                </a:lnTo>
                <a:close/>
              </a:path>
            </a:pathLst>
          </a:custGeom>
          <a:solidFill>
            <a:srgbClr val="FFA00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9" name="object 62"/>
          <p:cNvSpPr/>
          <p:nvPr/>
        </p:nvSpPr>
        <p:spPr>
          <a:xfrm>
            <a:off x="154080" y="1779480"/>
            <a:ext cx="3199680" cy="56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ctr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1" strike="noStrike" spc="1">
                <a:solidFill>
                  <a:srgbClr val="FFFFFF"/>
                </a:solidFill>
                <a:latin typeface="Calibri"/>
                <a:ea typeface="DejaVu Sans"/>
              </a:rPr>
              <a:t>Comparison</a:t>
            </a:r>
            <a:endParaRPr lang="en-US" sz="3600" b="0" strike="noStrike" spc="-1">
              <a:latin typeface="Arial"/>
            </a:endParaRPr>
          </a:p>
        </p:txBody>
      </p:sp>
      <p:graphicFrame>
        <p:nvGraphicFramePr>
          <p:cNvPr id="500" name="Table 3"/>
          <p:cNvGraphicFramePr/>
          <p:nvPr/>
        </p:nvGraphicFramePr>
        <p:xfrm>
          <a:off x="274320" y="3102840"/>
          <a:ext cx="18196560" cy="6224040"/>
        </p:xfrm>
        <a:graphic>
          <a:graphicData uri="http://schemas.openxmlformats.org/drawingml/2006/table">
            <a:tbl>
              <a:tblPr/>
              <a:tblGrid>
                <a:gridCol w="1021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6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  <a:tabLst>
                          <a:tab pos="0" algn="l"/>
                        </a:tabLst>
                      </a:pPr>
                      <a:r>
                        <a:rPr lang="en-US" sz="2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Features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  <a:tabLst>
                          <a:tab pos="0" algn="l"/>
                        </a:tabLst>
                      </a:pPr>
                      <a:r>
                        <a:rPr lang="en-US" sz="2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Existing System #1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  <a:tabLst>
                          <a:tab pos="0" algn="l"/>
                        </a:tabLst>
                      </a:pPr>
                      <a:r>
                        <a:rPr lang="en-US" sz="2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Existing System #2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  <a:tabLst>
                          <a:tab pos="0" algn="l"/>
                        </a:tabLst>
                      </a:pPr>
                      <a:r>
                        <a:rPr lang="en-US" sz="2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Existing System #3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  <a:tabLst>
                          <a:tab pos="0" algn="l"/>
                        </a:tabLst>
                      </a:pPr>
                      <a:r>
                        <a:rPr lang="en-US" sz="2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Existing System #4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</a:pPr>
                      <a:r>
                        <a:rPr lang="en-US" sz="2800" b="0" strike="noStrike" spc="-1">
                          <a:latin typeface="Calibri"/>
                        </a:rPr>
                        <a:t>Feature #1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</a:pPr>
                      <a:r>
                        <a:rPr lang="en-US" sz="2800" b="0" strike="noStrike" spc="-1">
                          <a:latin typeface="Calibri"/>
                        </a:rPr>
                        <a:t>Y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</a:pPr>
                      <a:r>
                        <a:rPr lang="en-US" sz="2800" b="0" strike="noStrike" spc="-1">
                          <a:latin typeface="Calibri"/>
                        </a:rPr>
                        <a:t>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</a:pPr>
                      <a:r>
                        <a:rPr lang="en-US" sz="2800" b="0" strike="noStrike" spc="-1">
                          <a:latin typeface="Calibri"/>
                        </a:rPr>
                        <a:t>N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83"/>
                        </a:spcBef>
                        <a:spcAft>
                          <a:spcPts val="283"/>
                        </a:spcAft>
                        <a:buNone/>
                      </a:pPr>
                      <a:r>
                        <a:rPr lang="en-US" sz="2800" b="0" strike="noStrike" spc="-1">
                          <a:latin typeface="Calibri"/>
                        </a:rPr>
                        <a:t>Y</a:t>
                      </a:r>
                      <a:endParaRPr lang="en-US" sz="28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5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oup 12"/>
          <p:cNvGrpSpPr/>
          <p:nvPr/>
        </p:nvGrpSpPr>
        <p:grpSpPr>
          <a:xfrm>
            <a:off x="0" y="839520"/>
            <a:ext cx="5303160" cy="1037880"/>
            <a:chOff x="0" y="839520"/>
            <a:chExt cx="5303160" cy="1037880"/>
          </a:xfrm>
        </p:grpSpPr>
        <p:sp>
          <p:nvSpPr>
            <p:cNvPr id="502" name="object 60"/>
            <p:cNvSpPr/>
            <p:nvPr/>
          </p:nvSpPr>
          <p:spPr>
            <a:xfrm>
              <a:off x="0" y="839520"/>
              <a:ext cx="48513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03" name="object 63"/>
            <p:cNvSpPr/>
            <p:nvPr/>
          </p:nvSpPr>
          <p:spPr>
            <a:xfrm>
              <a:off x="4385520" y="839520"/>
              <a:ext cx="91764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04" name="object 64"/>
          <p:cNvSpPr/>
          <p:nvPr/>
        </p:nvSpPr>
        <p:spPr>
          <a:xfrm>
            <a:off x="171360" y="957600"/>
            <a:ext cx="720396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DejaVu Sans"/>
              </a:rPr>
              <a:t>Literature Survey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05" name="object 65"/>
          <p:cNvSpPr/>
          <p:nvPr/>
        </p:nvSpPr>
        <p:spPr>
          <a:xfrm>
            <a:off x="365760" y="2743200"/>
            <a:ext cx="18104760" cy="656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06" name="object 66"/>
          <p:cNvSpPr/>
          <p:nvPr/>
        </p:nvSpPr>
        <p:spPr>
          <a:xfrm>
            <a:off x="0" y="1849320"/>
            <a:ext cx="5211720" cy="588960"/>
          </a:xfrm>
          <a:custGeom>
            <a:avLst/>
            <a:gdLst/>
            <a:ahLst/>
            <a:cxnLst/>
            <a:rect l="l" t="t" r="r" b="b"/>
            <a:pathLst>
              <a:path w="1909445" h="437514">
                <a:moveTo>
                  <a:pt x="1690241" y="0"/>
                </a:moveTo>
                <a:lnTo>
                  <a:pt x="0" y="0"/>
                </a:lnTo>
                <a:lnTo>
                  <a:pt x="0" y="437154"/>
                </a:lnTo>
                <a:lnTo>
                  <a:pt x="1690241" y="437154"/>
                </a:lnTo>
                <a:lnTo>
                  <a:pt x="1740359" y="431381"/>
                </a:lnTo>
                <a:lnTo>
                  <a:pt x="1786366" y="414937"/>
                </a:lnTo>
                <a:lnTo>
                  <a:pt x="1826950" y="389135"/>
                </a:lnTo>
                <a:lnTo>
                  <a:pt x="1860800" y="355285"/>
                </a:lnTo>
                <a:lnTo>
                  <a:pt x="1886602" y="314701"/>
                </a:lnTo>
                <a:lnTo>
                  <a:pt x="1903046" y="268694"/>
                </a:lnTo>
                <a:lnTo>
                  <a:pt x="1908818" y="218577"/>
                </a:lnTo>
                <a:lnTo>
                  <a:pt x="1903046" y="168459"/>
                </a:lnTo>
                <a:lnTo>
                  <a:pt x="1886602" y="122452"/>
                </a:lnTo>
                <a:lnTo>
                  <a:pt x="1860800" y="81868"/>
                </a:lnTo>
                <a:lnTo>
                  <a:pt x="1826950" y="48018"/>
                </a:lnTo>
                <a:lnTo>
                  <a:pt x="1786366" y="22216"/>
                </a:lnTo>
                <a:lnTo>
                  <a:pt x="1740359" y="5772"/>
                </a:lnTo>
                <a:lnTo>
                  <a:pt x="1690241" y="0"/>
                </a:lnTo>
                <a:close/>
              </a:path>
            </a:pathLst>
          </a:custGeom>
          <a:solidFill>
            <a:srgbClr val="FFA00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7" name="object 67"/>
          <p:cNvSpPr/>
          <p:nvPr/>
        </p:nvSpPr>
        <p:spPr>
          <a:xfrm>
            <a:off x="171360" y="1815120"/>
            <a:ext cx="4948920" cy="5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ctr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1" strike="noStrike" spc="1">
                <a:solidFill>
                  <a:srgbClr val="FFFFFF"/>
                </a:solidFill>
                <a:latin typeface="Calibri"/>
                <a:ea typeface="DejaVu Sans"/>
              </a:rPr>
              <a:t>Technologies Considered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roup 6"/>
          <p:cNvGrpSpPr/>
          <p:nvPr/>
        </p:nvGrpSpPr>
        <p:grpSpPr>
          <a:xfrm>
            <a:off x="0" y="839520"/>
            <a:ext cx="6126120" cy="1037880"/>
            <a:chOff x="0" y="839520"/>
            <a:chExt cx="6126120" cy="1037880"/>
          </a:xfrm>
        </p:grpSpPr>
        <p:sp>
          <p:nvSpPr>
            <p:cNvPr id="515" name="object 38"/>
            <p:cNvSpPr/>
            <p:nvPr/>
          </p:nvSpPr>
          <p:spPr>
            <a:xfrm>
              <a:off x="0" y="839520"/>
              <a:ext cx="560448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16" name="object 39"/>
            <p:cNvSpPr/>
            <p:nvPr/>
          </p:nvSpPr>
          <p:spPr>
            <a:xfrm>
              <a:off x="5066280" y="839520"/>
              <a:ext cx="105984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17" name="object 40"/>
          <p:cNvSpPr/>
          <p:nvPr/>
        </p:nvSpPr>
        <p:spPr>
          <a:xfrm>
            <a:off x="171360" y="957600"/>
            <a:ext cx="720396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DejaVu Sans"/>
              </a:rPr>
              <a:t>Requirements Analysis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18" name="object 41"/>
          <p:cNvSpPr/>
          <p:nvPr/>
        </p:nvSpPr>
        <p:spPr>
          <a:xfrm>
            <a:off x="365760" y="2743200"/>
            <a:ext cx="18104760" cy="656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9" name="object 68"/>
          <p:cNvSpPr/>
          <p:nvPr/>
        </p:nvSpPr>
        <p:spPr>
          <a:xfrm>
            <a:off x="0" y="1849320"/>
            <a:ext cx="5303160" cy="619200"/>
          </a:xfrm>
          <a:custGeom>
            <a:avLst/>
            <a:gdLst/>
            <a:ahLst/>
            <a:cxnLst/>
            <a:rect l="l" t="t" r="r" b="b"/>
            <a:pathLst>
              <a:path w="1909445" h="437514">
                <a:moveTo>
                  <a:pt x="1690241" y="0"/>
                </a:moveTo>
                <a:lnTo>
                  <a:pt x="0" y="0"/>
                </a:lnTo>
                <a:lnTo>
                  <a:pt x="0" y="437154"/>
                </a:lnTo>
                <a:lnTo>
                  <a:pt x="1690241" y="437154"/>
                </a:lnTo>
                <a:lnTo>
                  <a:pt x="1740359" y="431381"/>
                </a:lnTo>
                <a:lnTo>
                  <a:pt x="1786366" y="414937"/>
                </a:lnTo>
                <a:lnTo>
                  <a:pt x="1826950" y="389135"/>
                </a:lnTo>
                <a:lnTo>
                  <a:pt x="1860800" y="355285"/>
                </a:lnTo>
                <a:lnTo>
                  <a:pt x="1886602" y="314701"/>
                </a:lnTo>
                <a:lnTo>
                  <a:pt x="1903046" y="268694"/>
                </a:lnTo>
                <a:lnTo>
                  <a:pt x="1908818" y="218577"/>
                </a:lnTo>
                <a:lnTo>
                  <a:pt x="1903046" y="168459"/>
                </a:lnTo>
                <a:lnTo>
                  <a:pt x="1886602" y="122452"/>
                </a:lnTo>
                <a:lnTo>
                  <a:pt x="1860800" y="81868"/>
                </a:lnTo>
                <a:lnTo>
                  <a:pt x="1826950" y="48018"/>
                </a:lnTo>
                <a:lnTo>
                  <a:pt x="1786366" y="22216"/>
                </a:lnTo>
                <a:lnTo>
                  <a:pt x="1740359" y="5772"/>
                </a:lnTo>
                <a:lnTo>
                  <a:pt x="1690241" y="0"/>
                </a:lnTo>
                <a:close/>
              </a:path>
            </a:pathLst>
          </a:custGeom>
          <a:solidFill>
            <a:srgbClr val="FFA00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20" name="object 69"/>
          <p:cNvSpPr/>
          <p:nvPr/>
        </p:nvSpPr>
        <p:spPr>
          <a:xfrm>
            <a:off x="154080" y="1779120"/>
            <a:ext cx="4966200" cy="5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ctr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1" strike="noStrike" spc="1">
                <a:solidFill>
                  <a:srgbClr val="FFFFFF"/>
                </a:solidFill>
                <a:latin typeface="Calibri"/>
                <a:ea typeface="DejaVu Sans"/>
              </a:rPr>
              <a:t>Users of the System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roup 14"/>
          <p:cNvGrpSpPr/>
          <p:nvPr/>
        </p:nvGrpSpPr>
        <p:grpSpPr>
          <a:xfrm>
            <a:off x="0" y="839520"/>
            <a:ext cx="6126120" cy="1037880"/>
            <a:chOff x="0" y="839520"/>
            <a:chExt cx="6126120" cy="1037880"/>
          </a:xfrm>
        </p:grpSpPr>
        <p:sp>
          <p:nvSpPr>
            <p:cNvPr id="522" name="object 76"/>
            <p:cNvSpPr/>
            <p:nvPr/>
          </p:nvSpPr>
          <p:spPr>
            <a:xfrm>
              <a:off x="0" y="839520"/>
              <a:ext cx="560448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23" name="object 77"/>
            <p:cNvSpPr/>
            <p:nvPr/>
          </p:nvSpPr>
          <p:spPr>
            <a:xfrm>
              <a:off x="5066280" y="839520"/>
              <a:ext cx="105984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24" name="object 78"/>
          <p:cNvSpPr/>
          <p:nvPr/>
        </p:nvSpPr>
        <p:spPr>
          <a:xfrm>
            <a:off x="171360" y="957600"/>
            <a:ext cx="720396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DejaVu Sans"/>
              </a:rPr>
              <a:t>Requirements Analysis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25" name="object 79"/>
          <p:cNvSpPr/>
          <p:nvPr/>
        </p:nvSpPr>
        <p:spPr>
          <a:xfrm>
            <a:off x="365760" y="2743200"/>
            <a:ext cx="18104760" cy="656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26" name="object 80"/>
          <p:cNvSpPr/>
          <p:nvPr/>
        </p:nvSpPr>
        <p:spPr>
          <a:xfrm>
            <a:off x="0" y="1849320"/>
            <a:ext cx="5303160" cy="619200"/>
          </a:xfrm>
          <a:custGeom>
            <a:avLst/>
            <a:gdLst/>
            <a:ahLst/>
            <a:cxnLst/>
            <a:rect l="l" t="t" r="r" b="b"/>
            <a:pathLst>
              <a:path w="1909445" h="437514">
                <a:moveTo>
                  <a:pt x="1690241" y="0"/>
                </a:moveTo>
                <a:lnTo>
                  <a:pt x="0" y="0"/>
                </a:lnTo>
                <a:lnTo>
                  <a:pt x="0" y="437154"/>
                </a:lnTo>
                <a:lnTo>
                  <a:pt x="1690241" y="437154"/>
                </a:lnTo>
                <a:lnTo>
                  <a:pt x="1740359" y="431381"/>
                </a:lnTo>
                <a:lnTo>
                  <a:pt x="1786366" y="414937"/>
                </a:lnTo>
                <a:lnTo>
                  <a:pt x="1826950" y="389135"/>
                </a:lnTo>
                <a:lnTo>
                  <a:pt x="1860800" y="355285"/>
                </a:lnTo>
                <a:lnTo>
                  <a:pt x="1886602" y="314701"/>
                </a:lnTo>
                <a:lnTo>
                  <a:pt x="1903046" y="268694"/>
                </a:lnTo>
                <a:lnTo>
                  <a:pt x="1908818" y="218577"/>
                </a:lnTo>
                <a:lnTo>
                  <a:pt x="1903046" y="168459"/>
                </a:lnTo>
                <a:lnTo>
                  <a:pt x="1886602" y="122452"/>
                </a:lnTo>
                <a:lnTo>
                  <a:pt x="1860800" y="81868"/>
                </a:lnTo>
                <a:lnTo>
                  <a:pt x="1826950" y="48018"/>
                </a:lnTo>
                <a:lnTo>
                  <a:pt x="1786366" y="22216"/>
                </a:lnTo>
                <a:lnTo>
                  <a:pt x="1740359" y="5772"/>
                </a:lnTo>
                <a:lnTo>
                  <a:pt x="1690241" y="0"/>
                </a:lnTo>
                <a:close/>
              </a:path>
            </a:pathLst>
          </a:custGeom>
          <a:solidFill>
            <a:srgbClr val="FFA00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27" name="object 81"/>
          <p:cNvSpPr/>
          <p:nvPr/>
        </p:nvSpPr>
        <p:spPr>
          <a:xfrm>
            <a:off x="154080" y="1779120"/>
            <a:ext cx="4966200" cy="5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ctr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1" strike="noStrike" spc="1">
                <a:solidFill>
                  <a:srgbClr val="FFFFFF"/>
                </a:solidFill>
                <a:latin typeface="Calibri"/>
                <a:ea typeface="DejaVu Sans"/>
              </a:rPr>
              <a:t>Functional Requirements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3"/>
          <p:cNvGrpSpPr/>
          <p:nvPr/>
        </p:nvGrpSpPr>
        <p:grpSpPr>
          <a:xfrm>
            <a:off x="0" y="839520"/>
            <a:ext cx="6674760" cy="1037880"/>
            <a:chOff x="0" y="839520"/>
            <a:chExt cx="6674760" cy="1037880"/>
          </a:xfrm>
        </p:grpSpPr>
        <p:sp>
          <p:nvSpPr>
            <p:cNvPr id="529" name="object 70"/>
            <p:cNvSpPr/>
            <p:nvPr/>
          </p:nvSpPr>
          <p:spPr>
            <a:xfrm>
              <a:off x="0" y="839520"/>
              <a:ext cx="610632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0" name="object 71"/>
            <p:cNvSpPr/>
            <p:nvPr/>
          </p:nvSpPr>
          <p:spPr>
            <a:xfrm>
              <a:off x="5519880" y="839520"/>
              <a:ext cx="115488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31" name="object 72"/>
          <p:cNvSpPr/>
          <p:nvPr/>
        </p:nvSpPr>
        <p:spPr>
          <a:xfrm>
            <a:off x="171360" y="957600"/>
            <a:ext cx="778356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DejaVu Sans"/>
              </a:rPr>
              <a:t>Requirements Analysis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32" name="object 73"/>
          <p:cNvSpPr/>
          <p:nvPr/>
        </p:nvSpPr>
        <p:spPr>
          <a:xfrm>
            <a:off x="365760" y="2743200"/>
            <a:ext cx="18104760" cy="656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600" b="0" strike="noStrike" spc="-21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33" name="object 74"/>
          <p:cNvSpPr/>
          <p:nvPr/>
        </p:nvSpPr>
        <p:spPr>
          <a:xfrm>
            <a:off x="0" y="1849320"/>
            <a:ext cx="6126120" cy="619200"/>
          </a:xfrm>
          <a:custGeom>
            <a:avLst/>
            <a:gdLst/>
            <a:ahLst/>
            <a:cxnLst/>
            <a:rect l="l" t="t" r="r" b="b"/>
            <a:pathLst>
              <a:path w="1909445" h="437514">
                <a:moveTo>
                  <a:pt x="1690241" y="0"/>
                </a:moveTo>
                <a:lnTo>
                  <a:pt x="0" y="0"/>
                </a:lnTo>
                <a:lnTo>
                  <a:pt x="0" y="437154"/>
                </a:lnTo>
                <a:lnTo>
                  <a:pt x="1690241" y="437154"/>
                </a:lnTo>
                <a:lnTo>
                  <a:pt x="1740359" y="431381"/>
                </a:lnTo>
                <a:lnTo>
                  <a:pt x="1786366" y="414937"/>
                </a:lnTo>
                <a:lnTo>
                  <a:pt x="1826950" y="389135"/>
                </a:lnTo>
                <a:lnTo>
                  <a:pt x="1860800" y="355285"/>
                </a:lnTo>
                <a:lnTo>
                  <a:pt x="1886602" y="314701"/>
                </a:lnTo>
                <a:lnTo>
                  <a:pt x="1903046" y="268694"/>
                </a:lnTo>
                <a:lnTo>
                  <a:pt x="1908818" y="218577"/>
                </a:lnTo>
                <a:lnTo>
                  <a:pt x="1903046" y="168459"/>
                </a:lnTo>
                <a:lnTo>
                  <a:pt x="1886602" y="122452"/>
                </a:lnTo>
                <a:lnTo>
                  <a:pt x="1860800" y="81868"/>
                </a:lnTo>
                <a:lnTo>
                  <a:pt x="1826950" y="48018"/>
                </a:lnTo>
                <a:lnTo>
                  <a:pt x="1786366" y="22216"/>
                </a:lnTo>
                <a:lnTo>
                  <a:pt x="1740359" y="5772"/>
                </a:lnTo>
                <a:lnTo>
                  <a:pt x="1690241" y="0"/>
                </a:lnTo>
                <a:close/>
              </a:path>
            </a:pathLst>
          </a:custGeom>
          <a:solidFill>
            <a:srgbClr val="FFA00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34" name="object 75"/>
          <p:cNvSpPr/>
          <p:nvPr/>
        </p:nvSpPr>
        <p:spPr>
          <a:xfrm>
            <a:off x="154080" y="1779120"/>
            <a:ext cx="5789160" cy="5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ctr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1" strike="noStrike" spc="1">
                <a:solidFill>
                  <a:srgbClr val="FFFFFF"/>
                </a:solidFill>
                <a:latin typeface="Calibri"/>
                <a:ea typeface="DejaVu Sans"/>
              </a:rPr>
              <a:t>Non Functional Requirements</a:t>
            </a:r>
            <a:endParaRPr lang="en-US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roup 10"/>
          <p:cNvGrpSpPr/>
          <p:nvPr/>
        </p:nvGrpSpPr>
        <p:grpSpPr>
          <a:xfrm>
            <a:off x="0" y="839520"/>
            <a:ext cx="7375320" cy="1037880"/>
            <a:chOff x="0" y="839520"/>
            <a:chExt cx="7375320" cy="1037880"/>
          </a:xfrm>
        </p:grpSpPr>
        <p:sp>
          <p:nvSpPr>
            <p:cNvPr id="536" name="object 51"/>
            <p:cNvSpPr/>
            <p:nvPr/>
          </p:nvSpPr>
          <p:spPr>
            <a:xfrm>
              <a:off x="0" y="839520"/>
              <a:ext cx="67467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7" name="object 52"/>
            <p:cNvSpPr/>
            <p:nvPr/>
          </p:nvSpPr>
          <p:spPr>
            <a:xfrm>
              <a:off x="6098760" y="839520"/>
              <a:ext cx="127656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38" name="object 53"/>
          <p:cNvSpPr/>
          <p:nvPr/>
        </p:nvSpPr>
        <p:spPr>
          <a:xfrm>
            <a:off x="171360" y="957600"/>
            <a:ext cx="7203960" cy="689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Work Status</a:t>
            </a:r>
            <a:endParaRPr lang="en-US" sz="4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FF611-B139-D890-8277-8CBD1AA2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roup 10">
            <a:extLst>
              <a:ext uri="{FF2B5EF4-FFF2-40B4-BE49-F238E27FC236}">
                <a16:creationId xmlns:a16="http://schemas.microsoft.com/office/drawing/2014/main" id="{E0F7B2E6-D6B6-D8D6-8413-992D6DD3A719}"/>
              </a:ext>
            </a:extLst>
          </p:cNvPr>
          <p:cNvGrpSpPr/>
          <p:nvPr/>
        </p:nvGrpSpPr>
        <p:grpSpPr>
          <a:xfrm>
            <a:off x="0" y="839520"/>
            <a:ext cx="7375320" cy="1037880"/>
            <a:chOff x="0" y="839520"/>
            <a:chExt cx="7375320" cy="1037880"/>
          </a:xfrm>
        </p:grpSpPr>
        <p:sp>
          <p:nvSpPr>
            <p:cNvPr id="536" name="object 51">
              <a:extLst>
                <a:ext uri="{FF2B5EF4-FFF2-40B4-BE49-F238E27FC236}">
                  <a16:creationId xmlns:a16="http://schemas.microsoft.com/office/drawing/2014/main" id="{3191A994-442A-61BC-22BF-EAFDA8C2AC96}"/>
                </a:ext>
              </a:extLst>
            </p:cNvPr>
            <p:cNvSpPr/>
            <p:nvPr/>
          </p:nvSpPr>
          <p:spPr>
            <a:xfrm>
              <a:off x="0" y="839520"/>
              <a:ext cx="6746760" cy="103788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7" name="object 52">
              <a:extLst>
                <a:ext uri="{FF2B5EF4-FFF2-40B4-BE49-F238E27FC236}">
                  <a16:creationId xmlns:a16="http://schemas.microsoft.com/office/drawing/2014/main" id="{AF827872-829B-8BA1-DCEE-414365AF341F}"/>
                </a:ext>
              </a:extLst>
            </p:cNvPr>
            <p:cNvSpPr/>
            <p:nvPr/>
          </p:nvSpPr>
          <p:spPr>
            <a:xfrm>
              <a:off x="6098760" y="839520"/>
              <a:ext cx="1276560" cy="103788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38" name="object 53">
            <a:extLst>
              <a:ext uri="{FF2B5EF4-FFF2-40B4-BE49-F238E27FC236}">
                <a16:creationId xmlns:a16="http://schemas.microsoft.com/office/drawing/2014/main" id="{A38B0FBD-CBA2-D64A-A735-93054DF72B5D}"/>
              </a:ext>
            </a:extLst>
          </p:cNvPr>
          <p:cNvSpPr/>
          <p:nvPr/>
        </p:nvSpPr>
        <p:spPr>
          <a:xfrm>
            <a:off x="171360" y="957600"/>
            <a:ext cx="7203960" cy="6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400" b="1" strike="noStrike" spc="-1">
                <a:solidFill>
                  <a:srgbClr val="FFFFFF"/>
                </a:solidFill>
                <a:latin typeface="Calibri"/>
                <a:ea typeface="DejaVu Sans"/>
              </a:rPr>
              <a:t>References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39" name="object 54">
            <a:extLst>
              <a:ext uri="{FF2B5EF4-FFF2-40B4-BE49-F238E27FC236}">
                <a16:creationId xmlns:a16="http://schemas.microsoft.com/office/drawing/2014/main" id="{F69E255C-77EA-FD9A-06C4-866D8290757E}"/>
              </a:ext>
            </a:extLst>
          </p:cNvPr>
          <p:cNvSpPr/>
          <p:nvPr/>
        </p:nvSpPr>
        <p:spPr>
          <a:xfrm>
            <a:off x="452776" y="1358460"/>
            <a:ext cx="18104760" cy="98581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40" rIns="0" bIns="0" anchor="t">
            <a:spAutoFit/>
          </a:bodyPr>
          <a:lstStyle/>
          <a:p>
            <a:pPr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</a:pPr>
            <a:endParaRPr lang="en-US" sz="3200" spc="-1" dirty="0"/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spc="-1" dirty="0"/>
              <a:t>  React.js – JavaScript library for building fast and interactive user interfaces. </a:t>
            </a:r>
            <a:r>
              <a:rPr lang="en-US" sz="3200" spc="-1" dirty="0">
                <a:hlinkClick r:id="rId3"/>
              </a:rPr>
              <a:t>https://react.dev</a:t>
            </a:r>
            <a:endParaRPr lang="en-US" sz="3200" spc="-1" dirty="0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spc="-1" dirty="0"/>
              <a:t>  Node.js – Runtime environment for executing JavaScript on the server side. </a:t>
            </a:r>
            <a:r>
              <a:rPr lang="en-US" sz="3200" spc="-1" dirty="0">
                <a:hlinkClick r:id="rId4"/>
              </a:rPr>
              <a:t>https://nodejs.org</a:t>
            </a:r>
            <a:endParaRPr lang="en-US" sz="3200" spc="-1" dirty="0"/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spc="-1" dirty="0"/>
              <a:t>  Express.js – Web framework for Node.js to build APIs and backend </a:t>
            </a:r>
            <a:r>
              <a:rPr lang="en-US" sz="3200" spc="-1" dirty="0" err="1"/>
              <a:t>services.</a:t>
            </a:r>
            <a:r>
              <a:rPr lang="en-US" sz="3200" spc="-1" dirty="0" err="1">
                <a:hlinkClick r:id="rId5"/>
              </a:rPr>
              <a:t>https</a:t>
            </a:r>
            <a:r>
              <a:rPr lang="en-US" sz="3200" spc="-1" dirty="0">
                <a:hlinkClick r:id="rId5"/>
              </a:rPr>
              <a:t>://expressjs.com</a:t>
            </a:r>
            <a:endParaRPr lang="en-US" sz="3200" spc="-1" dirty="0"/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spc="-1" dirty="0"/>
              <a:t>  Tailwind CSS – Utility-first CSS framework for modern, responsive designs. </a:t>
            </a:r>
            <a:r>
              <a:rPr lang="en-US" sz="3200" spc="-1" dirty="0">
                <a:hlinkClick r:id="rId6"/>
              </a:rPr>
              <a:t>https://tailwindcss.com</a:t>
            </a:r>
            <a:endParaRPr lang="en-US" sz="3200" spc="-1" dirty="0"/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spc="-1" dirty="0">
                <a:latin typeface="Arial"/>
              </a:rPr>
              <a:t>  </a:t>
            </a:r>
            <a:r>
              <a:rPr lang="en-US" sz="3200" spc="-1" dirty="0"/>
              <a:t>Stripe – Payment gateway for secure online payments and subscriptions. </a:t>
            </a:r>
            <a:r>
              <a:rPr lang="en-US" sz="3200" spc="-1" dirty="0">
                <a:hlinkClick r:id="rId7"/>
              </a:rPr>
              <a:t>https://stripe.com</a:t>
            </a:r>
            <a:r>
              <a:rPr lang="en-US" sz="3200" spc="-1" dirty="0"/>
              <a:t> </a:t>
            </a: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spc="-1" dirty="0"/>
              <a:t>  AWS – Cloud platform for hosting, scaling, and deploying applications. </a:t>
            </a:r>
            <a:r>
              <a:rPr lang="en-US" sz="3200" spc="-1" dirty="0">
                <a:hlinkClick r:id="rId8"/>
              </a:rPr>
              <a:t>https://aws.amazon.com</a:t>
            </a:r>
            <a:endParaRPr lang="en-US" sz="3200" spc="-1" dirty="0">
              <a:latin typeface="Arial"/>
            </a:endParaRP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spc="-1" dirty="0"/>
              <a:t>  GitHub – Version control and collaboration platform for project management. </a:t>
            </a:r>
            <a:r>
              <a:rPr lang="en-US" sz="3200" spc="-1" dirty="0">
                <a:hlinkClick r:id="rId9"/>
              </a:rPr>
              <a:t>https://github.com</a:t>
            </a:r>
            <a:r>
              <a:rPr lang="en-US" sz="3200" spc="-1" dirty="0"/>
              <a:t> </a:t>
            </a: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r>
              <a:rPr lang="en-US" sz="3200" spc="-1" dirty="0"/>
              <a:t> MongoDB – NoSQL database for storing users, spaces, and booking data.</a:t>
            </a:r>
            <a:r>
              <a:rPr lang="en-US" sz="3200" spc="-1" dirty="0">
                <a:hlinkClick r:id="rId10"/>
              </a:rPr>
              <a:t> https://www.mongodb.com</a:t>
            </a:r>
            <a:r>
              <a:rPr lang="en-US" sz="3200" spc="-1" dirty="0"/>
              <a:t> </a:t>
            </a:r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endParaRPr lang="en-US" sz="3200" spc="-1" dirty="0"/>
          </a:p>
          <a:p>
            <a:pPr marL="12600" indent="-216000"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Symbol"/>
              <a:buChar char=""/>
            </a:pPr>
            <a:endParaRPr lang="en-US" sz="3200" spc="-1" dirty="0"/>
          </a:p>
          <a:p>
            <a:pPr algn="just">
              <a:lnSpc>
                <a:spcPct val="115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</a:pPr>
            <a:endParaRPr lang="en-US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3174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object 55"/>
          <p:cNvSpPr/>
          <p:nvPr/>
        </p:nvSpPr>
        <p:spPr>
          <a:xfrm>
            <a:off x="1920240" y="3647160"/>
            <a:ext cx="14812920" cy="11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22920" indent="-121104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7200" b="0" strike="noStrike" spc="-7" dirty="0">
                <a:solidFill>
                  <a:srgbClr val="00318B"/>
                </a:solidFill>
                <a:latin typeface="Calibri"/>
                <a:ea typeface="DejaVu Sans"/>
              </a:rPr>
              <a:t>Thank You !!</a:t>
            </a:r>
            <a:endParaRPr lang="en-US" sz="7200" b="0" strike="noStrike" spc="-1" dirty="0">
              <a:latin typeface="Arial"/>
            </a:endParaRPr>
          </a:p>
        </p:txBody>
      </p:sp>
      <p:sp>
        <p:nvSpPr>
          <p:cNvPr id="541" name="object 56"/>
          <p:cNvSpPr/>
          <p:nvPr/>
        </p:nvSpPr>
        <p:spPr>
          <a:xfrm flipV="1">
            <a:off x="2651760" y="4740480"/>
            <a:ext cx="13807080" cy="273600"/>
          </a:xfrm>
          <a:custGeom>
            <a:avLst/>
            <a:gdLst/>
            <a:ahLst/>
            <a:cxnLst/>
            <a:rect l="l" t="t" r="r" b="b"/>
            <a:pathLst>
              <a:path w="4686300">
                <a:moveTo>
                  <a:pt x="0" y="0"/>
                </a:moveTo>
                <a:lnTo>
                  <a:pt x="4686300" y="0"/>
                </a:lnTo>
              </a:path>
            </a:pathLst>
          </a:custGeom>
          <a:noFill/>
          <a:ln w="8466">
            <a:solidFill>
              <a:srgbClr val="002E8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Magnetism Magnetic Fields</Template>
  <TotalTime>925</TotalTime>
  <Words>1161</Words>
  <Application>Microsoft Office PowerPoint</Application>
  <PresentationFormat>Custom</PresentationFormat>
  <Paragraphs>217</Paragraphs>
  <Slides>22</Slides>
  <Notes>11</Notes>
  <HiddenSlides>9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Dilip Kumar Maripuri</dc:creator>
  <dc:description/>
  <cp:lastModifiedBy>Keyurkumar patel</cp:lastModifiedBy>
  <cp:revision>36</cp:revision>
  <dcterms:created xsi:type="dcterms:W3CDTF">2022-03-06T10:12:11Z</dcterms:created>
  <dcterms:modified xsi:type="dcterms:W3CDTF">2025-09-22T12:15:32Z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11</vt:i4>
  </property>
</Properties>
</file>